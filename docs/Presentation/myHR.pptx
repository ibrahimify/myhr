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Archivo Black" panose="020B0604020202020204" charset="0"/>
      <p:regular r:id="rId14"/>
    </p:embeddedFont>
    <p:embeddedFont>
      <p:font typeface="Garet" panose="020B0604020202020204" charset="0"/>
      <p:regular r:id="rId15"/>
    </p:embeddedFont>
    <p:embeddedFont>
      <p:font typeface="Garet Bold" panose="020B0604020202020204" charset="0"/>
      <p:regular r:id="rId16"/>
    </p:embeddedFont>
    <p:embeddedFont>
      <p:font typeface="Garet Light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80" d="100"/>
          <a:sy n="80" d="100"/>
        </p:scale>
        <p:origin x="24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F87D3F-E3F4-4241-B9F3-C81B56861A3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E19F07-42DA-44A8-A68B-F8B1A068C8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0425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E19F07-42DA-44A8-A68B-F8B1A068C89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2435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364" b="-336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379298" y="8311463"/>
            <a:ext cx="1880002" cy="946837"/>
          </a:xfrm>
          <a:custGeom>
            <a:avLst/>
            <a:gdLst/>
            <a:ahLst/>
            <a:cxnLst/>
            <a:rect l="l" t="t" r="r" b="b"/>
            <a:pathLst>
              <a:path w="1880002" h="946837">
                <a:moveTo>
                  <a:pt x="0" y="0"/>
                </a:moveTo>
                <a:lnTo>
                  <a:pt x="1880002" y="0"/>
                </a:lnTo>
                <a:lnTo>
                  <a:pt x="1880002" y="946837"/>
                </a:lnTo>
                <a:lnTo>
                  <a:pt x="0" y="9468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97223" y="1028700"/>
            <a:ext cx="3517358" cy="653258"/>
          </a:xfrm>
          <a:custGeom>
            <a:avLst/>
            <a:gdLst/>
            <a:ahLst/>
            <a:cxnLst/>
            <a:rect l="l" t="t" r="r" b="b"/>
            <a:pathLst>
              <a:path w="3517358" h="653258">
                <a:moveTo>
                  <a:pt x="0" y="0"/>
                </a:moveTo>
                <a:lnTo>
                  <a:pt x="3517358" y="0"/>
                </a:lnTo>
                <a:lnTo>
                  <a:pt x="3517358" y="653258"/>
                </a:lnTo>
                <a:lnTo>
                  <a:pt x="0" y="6532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0261" t="-59200" r="-10994" b="-58428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885470" y="5517487"/>
            <a:ext cx="9373830" cy="370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748"/>
              </a:lnSpc>
              <a:spcBef>
                <a:spcPct val="0"/>
              </a:spcBef>
            </a:pPr>
            <a:r>
              <a:rPr lang="en-US" sz="2748" spc="-217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Employee Management System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97223" y="8677224"/>
            <a:ext cx="3366096" cy="236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79"/>
              </a:lnSpc>
              <a:spcBef>
                <a:spcPct val="0"/>
              </a:spcBef>
            </a:pPr>
            <a:r>
              <a:rPr lang="en-US" sz="1599" b="1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PRESENTED BY: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97223" y="8966251"/>
            <a:ext cx="3366096" cy="236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79"/>
              </a:lnSpc>
              <a:spcBef>
                <a:spcPct val="0"/>
              </a:spcBef>
            </a:pPr>
            <a:r>
              <a:rPr lang="en-US" sz="1599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Muhammad Ibrahim Shoeb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063319" y="8677224"/>
            <a:ext cx="3366096" cy="236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79"/>
              </a:lnSpc>
              <a:spcBef>
                <a:spcPct val="0"/>
              </a:spcBef>
            </a:pPr>
            <a:r>
              <a:rPr lang="en-US" sz="1599" b="1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PRESENTED TO: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63319" y="8966251"/>
            <a:ext cx="3366096" cy="236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79"/>
              </a:lnSpc>
              <a:spcBef>
                <a:spcPct val="0"/>
              </a:spcBef>
            </a:pPr>
            <a:r>
              <a:rPr lang="en-US" sz="1599" dirty="0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Dr. Husam Al-</a:t>
            </a:r>
            <a:r>
              <a:rPr lang="en-US" sz="1599" dirty="0" err="1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Maghoosi</a:t>
            </a:r>
            <a:endParaRPr lang="en-US" sz="1599" dirty="0">
              <a:solidFill>
                <a:srgbClr val="2B2B2B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5812913" y="699069"/>
            <a:ext cx="1446387" cy="621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Garet Light"/>
                <a:ea typeface="Garet Light"/>
                <a:cs typeface="Garet Light"/>
                <a:sym typeface="Garet Light"/>
              </a:rPr>
              <a:t> 27/02/2026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485854" y="3950633"/>
            <a:ext cx="10773446" cy="1228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8490"/>
              </a:lnSpc>
              <a:spcBef>
                <a:spcPct val="0"/>
              </a:spcBef>
            </a:pPr>
            <a:r>
              <a:rPr lang="en-US" sz="10885" spc="-859" dirty="0" err="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myHR</a:t>
            </a:r>
            <a:r>
              <a:rPr lang="en-US" sz="10885" spc="-859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10032474" y="1857375"/>
          <a:ext cx="5891416" cy="6572248"/>
        </p:xfrm>
        <a:graphic>
          <a:graphicData uri="http://schemas.openxmlformats.org/drawingml/2006/table">
            <a:tbl>
              <a:tblPr/>
              <a:tblGrid>
                <a:gridCol w="866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5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1531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Overview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1531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Tech Stack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531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Core Module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1531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Functional Requirement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1531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Non-Functional Requirement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1531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Development Methodology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1531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Timeline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21531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10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Future Scope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Freeform 4"/>
          <p:cNvSpPr/>
          <p:nvPr/>
        </p:nvSpPr>
        <p:spPr>
          <a:xfrm>
            <a:off x="-706637" y="1559650"/>
            <a:ext cx="9125543" cy="7167700"/>
          </a:xfrm>
          <a:custGeom>
            <a:avLst/>
            <a:gdLst/>
            <a:ahLst/>
            <a:cxnLst/>
            <a:rect l="l" t="t" r="r" b="b"/>
            <a:pathLst>
              <a:path w="9125543" h="7167700">
                <a:moveTo>
                  <a:pt x="0" y="0"/>
                </a:moveTo>
                <a:lnTo>
                  <a:pt x="9125544" y="0"/>
                </a:lnTo>
                <a:lnTo>
                  <a:pt x="9125544" y="7167700"/>
                </a:lnTo>
                <a:lnTo>
                  <a:pt x="0" y="716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99313" y="0"/>
            <a:ext cx="3488687" cy="1198840"/>
          </a:xfrm>
          <a:custGeom>
            <a:avLst/>
            <a:gdLst/>
            <a:ahLst/>
            <a:cxnLst/>
            <a:rect l="l" t="t" r="r" b="b"/>
            <a:pathLst>
              <a:path w="3488687" h="1198840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604641" y="2439692"/>
            <a:ext cx="6531462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543434" y="0"/>
            <a:ext cx="7201132" cy="10287000"/>
            <a:chOff x="0" y="0"/>
            <a:chExt cx="9601509" cy="13716000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rcRect l="983" r="52377"/>
            <a:stretch>
              <a:fillRect/>
            </a:stretch>
          </p:blipFill>
          <p:spPr>
            <a:xfrm>
              <a:off x="0" y="0"/>
              <a:ext cx="9601509" cy="13716000"/>
            </a:xfrm>
            <a:prstGeom prst="rect">
              <a:avLst/>
            </a:prstGeom>
          </p:spPr>
        </p:pic>
      </p:grpSp>
      <p:sp>
        <p:nvSpPr>
          <p:cNvPr id="5" name="TextBox 5"/>
          <p:cNvSpPr txBox="1"/>
          <p:nvPr/>
        </p:nvSpPr>
        <p:spPr>
          <a:xfrm>
            <a:off x="1752166" y="4073525"/>
            <a:ext cx="3120902" cy="174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Supports full hierarchy management, employee lifecycle, and rule-based promotion logic.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44134" y="4073525"/>
            <a:ext cx="46767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67601" y="1129691"/>
            <a:ext cx="3120902" cy="2101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Development of a standalone Employee Management System (EMS) for structured government-like organizations.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1129691"/>
            <a:ext cx="46767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055907" y="4001198"/>
            <a:ext cx="7203393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Overview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03/10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59569" y="7017359"/>
            <a:ext cx="46767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36732" y="7017359"/>
            <a:ext cx="3120902" cy="2101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Replaces manual HR processes with structured, auditable, and consistent digital workflows.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5959978" y="679129"/>
          <a:ext cx="12005644" cy="9636253"/>
        </p:xfrm>
        <a:graphic>
          <a:graphicData uri="http://schemas.openxmlformats.org/drawingml/2006/table">
            <a:tbl>
              <a:tblPr/>
              <a:tblGrid>
                <a:gridCol w="3039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21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943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9495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Technology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Component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Why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6865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Primary</a:t>
                      </a: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:  Flet</a:t>
                      </a:r>
                      <a:endParaRPr lang="en-US" sz="1100"/>
                    </a:p>
                    <a:p>
                      <a:pPr algn="ctr">
                        <a:lnSpc>
                          <a:spcPts val="2940"/>
                        </a:lnSpc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Secondary</a:t>
                      </a: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: PySide6</a:t>
                      </a:r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UI (Desktop)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Flet: modern UI fast, clean admin UX.</a:t>
                      </a:r>
                      <a:endParaRPr lang="en-US" sz="1100"/>
                    </a:p>
                    <a:p>
                      <a:pPr algn="ctr">
                        <a:lnSpc>
                          <a:spcPts val="2940"/>
                        </a:lnSpc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PySide6:  industry-standard desktop toolkit if required.</a:t>
                      </a:r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6865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 Python + SQLite 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Backend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endParaRPr lang="en-US" sz="1100" dirty="0"/>
                    </a:p>
                    <a:p>
                      <a:pPr algn="ctr">
                        <a:lnSpc>
                          <a:spcPts val="2940"/>
                        </a:lnSpc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Local SQL DB, no server/network, handles 5k+ easily</a:t>
                      </a:r>
                    </a:p>
                    <a:p>
                      <a:pPr algn="ctr">
                        <a:lnSpc>
                          <a:spcPts val="2940"/>
                        </a:lnSpc>
                      </a:pPr>
                      <a:endParaRPr lang="en-US" sz="2100" dirty="0">
                        <a:solidFill>
                          <a:srgbClr val="000000"/>
                        </a:solidFill>
                        <a:latin typeface="Garet"/>
                        <a:ea typeface="Garet"/>
                        <a:cs typeface="Garet"/>
                        <a:sym typeface="Garet"/>
                      </a:endParaRPr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1337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dirty="0" err="1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SQLAlchemy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 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ORM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Clean data modeling and scalable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01337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PlantUML/Graphor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Modeling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UML (Use Case, Sequence, Activity)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0354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GitHub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Version Controlling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Repository for progress tracking, commits, and sprint updates.</a:t>
                      </a:r>
                      <a:endParaRPr lang="en-US" sz="1100" dirty="0"/>
                    </a:p>
                    <a:p>
                      <a:pPr algn="ctr">
                        <a:lnSpc>
                          <a:spcPts val="2940"/>
                        </a:lnSpc>
                      </a:pPr>
                      <a:endParaRPr lang="en-US" sz="1100" dirty="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Freeform 4"/>
          <p:cNvSpPr/>
          <p:nvPr/>
        </p:nvSpPr>
        <p:spPr>
          <a:xfrm>
            <a:off x="4972707" y="9258300"/>
            <a:ext cx="1641362" cy="2114167"/>
          </a:xfrm>
          <a:custGeom>
            <a:avLst/>
            <a:gdLst/>
            <a:ahLst/>
            <a:cxnLst/>
            <a:rect l="l" t="t" r="r" b="b"/>
            <a:pathLst>
              <a:path w="1641362" h="2114167">
                <a:moveTo>
                  <a:pt x="0" y="0"/>
                </a:moveTo>
                <a:lnTo>
                  <a:pt x="1641362" y="0"/>
                </a:lnTo>
                <a:lnTo>
                  <a:pt x="1641362" y="2114167"/>
                </a:lnTo>
                <a:lnTo>
                  <a:pt x="0" y="21141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4481263"/>
            <a:ext cx="5585369" cy="662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30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Tech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 rot="-10800000">
            <a:off x="11159450" y="-140976"/>
            <a:ext cx="2611028" cy="4114800"/>
          </a:xfrm>
          <a:custGeom>
            <a:avLst/>
            <a:gdLst/>
            <a:ahLst/>
            <a:cxnLst/>
            <a:rect l="l" t="t" r="r" b="b"/>
            <a:pathLst>
              <a:path w="2611028" h="4114800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2888356"/>
            <a:ext cx="7279037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Core Modules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382445" y="981075"/>
            <a:ext cx="287685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05/10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5836236"/>
            <a:ext cx="3806998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40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Friendly GUI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35821" y="5836236"/>
            <a:ext cx="5016359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40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Authorized Access: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4020" y="6439578"/>
            <a:ext cx="5016359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</a:t>
            </a:r>
            <a:r>
              <a:rPr lang="en-US" sz="20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odern, intuitive administrative interface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35821" y="6439578"/>
            <a:ext cx="5016359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Mu</a:t>
            </a:r>
            <a:r>
              <a:rPr lang="en-US" sz="2099" u="none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lti-user roles (Admin, Employee)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452302" y="5836236"/>
            <a:ext cx="3806998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40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Audit Records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847622" y="6439578"/>
            <a:ext cx="5016359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</a:t>
            </a:r>
            <a:r>
              <a:rPr lang="en-US" sz="20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aintains structured employment history, service records, and status tracking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1028700" y="3161405"/>
            <a:ext cx="7203393" cy="1519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Functional Requirements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06/10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5343525"/>
            <a:ext cx="15548430" cy="1876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1129" lvl="1" indent="-255565" algn="l">
              <a:lnSpc>
                <a:spcPts val="3811"/>
              </a:lnSpc>
              <a:buFont typeface="Arial"/>
              <a:buChar char="•"/>
            </a:pPr>
            <a:r>
              <a:rPr lang="en-US" sz="236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Organization hierarchy: Organization → Department → Sub-department → Unit + leadership roles.</a:t>
            </a:r>
          </a:p>
          <a:p>
            <a:pPr marL="511129" lvl="1" indent="-255565" algn="l">
              <a:lnSpc>
                <a:spcPts val="3811"/>
              </a:lnSpc>
              <a:buFont typeface="Arial"/>
              <a:buChar char="•"/>
            </a:pPr>
            <a:r>
              <a:rPr lang="en-US" sz="236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Employee management: CRUD, title progression, commendations, sanctions.</a:t>
            </a:r>
          </a:p>
          <a:p>
            <a:pPr marL="511129" lvl="1" indent="-255565" algn="l">
              <a:lnSpc>
                <a:spcPts val="3811"/>
              </a:lnSpc>
              <a:buFont typeface="Arial"/>
              <a:buChar char="•"/>
            </a:pPr>
            <a:r>
              <a:rPr lang="en-US" sz="236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Rule-based promotion system (time threshold + early promotion via commendation).</a:t>
            </a:r>
          </a:p>
          <a:p>
            <a:pPr algn="l">
              <a:lnSpc>
                <a:spcPts val="3811"/>
              </a:lnSpc>
            </a:pPr>
            <a:endParaRPr lang="en-US" sz="2367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1028700" y="3161405"/>
            <a:ext cx="7203393" cy="1519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Non-Functional Requirements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07/10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5343525"/>
            <a:ext cx="15548430" cy="1876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1129" lvl="1" indent="-255565" algn="l">
              <a:lnSpc>
                <a:spcPts val="3811"/>
              </a:lnSpc>
              <a:buFont typeface="Arial"/>
              <a:buChar char="•"/>
            </a:pPr>
            <a:r>
              <a:rPr lang="en-US" sz="236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Support for at least 5,000 employee records (indexed database design).</a:t>
            </a:r>
          </a:p>
          <a:p>
            <a:pPr marL="511129" lvl="1" indent="-255565" algn="l">
              <a:lnSpc>
                <a:spcPts val="3811"/>
              </a:lnSpc>
              <a:buFont typeface="Arial"/>
              <a:buChar char="•"/>
            </a:pPr>
            <a:r>
              <a:rPr lang="en-US" sz="236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Clean, responsive, user-friendly GUI.</a:t>
            </a:r>
          </a:p>
          <a:p>
            <a:pPr marL="511129" lvl="1" indent="-255565" algn="l">
              <a:lnSpc>
                <a:spcPts val="3811"/>
              </a:lnSpc>
              <a:buFont typeface="Arial"/>
              <a:buChar char="•"/>
            </a:pPr>
            <a:r>
              <a:rPr lang="en-US" sz="236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Data consistency, validation, and error handling.</a:t>
            </a:r>
          </a:p>
          <a:p>
            <a:pPr algn="l">
              <a:lnSpc>
                <a:spcPts val="3811"/>
              </a:lnSpc>
            </a:pPr>
            <a:endParaRPr lang="en-US" sz="2367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399384" y="3370724"/>
            <a:ext cx="5859916" cy="4812846"/>
          </a:xfrm>
          <a:custGeom>
            <a:avLst/>
            <a:gdLst/>
            <a:ahLst/>
            <a:cxnLst/>
            <a:rect l="l" t="t" r="r" b="b"/>
            <a:pathLst>
              <a:path w="5859916" h="4812846">
                <a:moveTo>
                  <a:pt x="0" y="0"/>
                </a:moveTo>
                <a:lnTo>
                  <a:pt x="5859916" y="0"/>
                </a:lnTo>
                <a:lnTo>
                  <a:pt x="5859916" y="4812846"/>
                </a:lnTo>
                <a:lnTo>
                  <a:pt x="0" y="48128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7796" t="-18017" r="-35868" b="-22858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228874" y="1123950"/>
            <a:ext cx="9830252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Development Methodology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939"/>
              </a:lnSpc>
              <a:spcBef>
                <a:spcPct val="0"/>
              </a:spcBef>
            </a:pPr>
            <a:r>
              <a:rPr lang="en-US" sz="2099" b="1" u="none" strike="noStrike">
                <a:solidFill>
                  <a:srgbClr val="000000">
                    <a:alpha val="81961"/>
                  </a:srgbClr>
                </a:solidFill>
                <a:latin typeface="Garet Bold"/>
                <a:ea typeface="Garet Bold"/>
                <a:cs typeface="Garet Bold"/>
                <a:sym typeface="Garet Bold"/>
              </a:rPr>
              <a:t>08/10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4562879"/>
            <a:ext cx="9468078" cy="2133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918"/>
              </a:lnSpc>
            </a:pPr>
            <a:r>
              <a:rPr lang="en-US" sz="236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Agile methodology with sprint-based iteration </a:t>
            </a:r>
          </a:p>
          <a:p>
            <a:pPr algn="just">
              <a:lnSpc>
                <a:spcPts val="5918"/>
              </a:lnSpc>
            </a:pPr>
            <a:r>
              <a:rPr lang="en-US" sz="236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Incremental feature delivery and testing at each sprint cycle</a:t>
            </a:r>
          </a:p>
          <a:p>
            <a:pPr algn="just">
              <a:lnSpc>
                <a:spcPts val="5918"/>
              </a:lnSpc>
            </a:pPr>
            <a:r>
              <a:rPr lang="en-US" sz="236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Continuous feedback integration and refinement.</a:t>
            </a:r>
          </a:p>
        </p:txBody>
      </p:sp>
      <p:sp>
        <p:nvSpPr>
          <p:cNvPr id="7" name="AutoShape 7"/>
          <p:cNvSpPr/>
          <p:nvPr/>
        </p:nvSpPr>
        <p:spPr>
          <a:xfrm>
            <a:off x="-585133" y="2138362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1028700" y="4292535"/>
            <a:ext cx="13838306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 rot="5400000">
            <a:off x="15074698" y="3103895"/>
            <a:ext cx="1629446" cy="2396244"/>
          </a:xfrm>
          <a:custGeom>
            <a:avLst/>
            <a:gdLst/>
            <a:ahLst/>
            <a:cxnLst/>
            <a:rect l="l" t="t" r="r" b="b"/>
            <a:pathLst>
              <a:path w="1629446" h="2396244">
                <a:moveTo>
                  <a:pt x="0" y="0"/>
                </a:moveTo>
                <a:lnTo>
                  <a:pt x="1629446" y="0"/>
                </a:lnTo>
                <a:lnTo>
                  <a:pt x="1629446" y="2396244"/>
                </a:lnTo>
                <a:lnTo>
                  <a:pt x="0" y="23962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1162887"/>
            <a:ext cx="5683548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Timeline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09/10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67082" y="5640615"/>
            <a:ext cx="2277734" cy="1177392"/>
            <a:chOff x="0" y="0"/>
            <a:chExt cx="3036979" cy="1569856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28575"/>
              <a:ext cx="3036979" cy="53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February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622859"/>
              <a:ext cx="3036979" cy="9469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Requirements finalization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005388" y="5619184"/>
            <a:ext cx="2743872" cy="1198823"/>
            <a:chOff x="0" y="-28575"/>
            <a:chExt cx="3658496" cy="1598431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28575"/>
              <a:ext cx="3658496" cy="53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b="1" dirty="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March	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622859"/>
              <a:ext cx="3658496" cy="9469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Database schema, UML design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982075" y="5619184"/>
            <a:ext cx="3104368" cy="1560773"/>
            <a:chOff x="0" y="-28575"/>
            <a:chExt cx="4139158" cy="2081031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28575"/>
              <a:ext cx="4139158" cy="53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b="1" dirty="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April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622859"/>
              <a:ext cx="4139158" cy="14295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Core development (CRUD + hierarchy + promotion logic).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963582" y="5619184"/>
            <a:ext cx="4123962" cy="1922723"/>
            <a:chOff x="0" y="-28575"/>
            <a:chExt cx="5498615" cy="2563631"/>
          </a:xfrm>
        </p:grpSpPr>
        <p:sp>
          <p:nvSpPr>
            <p:cNvPr id="19" name="TextBox 19"/>
            <p:cNvSpPr txBox="1"/>
            <p:nvPr/>
          </p:nvSpPr>
          <p:spPr>
            <a:xfrm>
              <a:off x="0" y="-28575"/>
              <a:ext cx="5498615" cy="53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b="1" dirty="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May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622859"/>
              <a:ext cx="5498615" cy="19121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Testing, validation, documentation, final refinement.</a:t>
              </a:r>
            </a:p>
            <a:p>
              <a:pPr marL="0" lvl="0" indent="0" algn="l">
                <a:lnSpc>
                  <a:spcPts val="2859"/>
                </a:lnSpc>
                <a:spcBef>
                  <a:spcPct val="0"/>
                </a:spcBef>
              </a:pPr>
              <a:endParaRPr lang="en-US" sz="21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endParaRPr>
            </a:p>
          </p:txBody>
        </p:sp>
      </p:grpSp>
      <p:sp>
        <p:nvSpPr>
          <p:cNvPr id="21" name="Freeform 21"/>
          <p:cNvSpPr/>
          <p:nvPr/>
        </p:nvSpPr>
        <p:spPr>
          <a:xfrm>
            <a:off x="1028700" y="4102116"/>
            <a:ext cx="380752" cy="380752"/>
          </a:xfrm>
          <a:custGeom>
            <a:avLst/>
            <a:gdLst/>
            <a:ahLst/>
            <a:cxnLst/>
            <a:rect l="l" t="t" r="r" b="b"/>
            <a:pathLst>
              <a:path w="380752" h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5005388" y="4102116"/>
            <a:ext cx="380752" cy="380752"/>
          </a:xfrm>
          <a:custGeom>
            <a:avLst/>
            <a:gdLst/>
            <a:ahLst/>
            <a:cxnLst/>
            <a:rect l="l" t="t" r="r" b="b"/>
            <a:pathLst>
              <a:path w="380752" h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8982075" y="4102116"/>
            <a:ext cx="380752" cy="380752"/>
          </a:xfrm>
          <a:custGeom>
            <a:avLst/>
            <a:gdLst/>
            <a:ahLst/>
            <a:cxnLst/>
            <a:rect l="l" t="t" r="r" b="b"/>
            <a:pathLst>
              <a:path w="380752" h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2958763" y="4102116"/>
            <a:ext cx="380752" cy="380752"/>
          </a:xfrm>
          <a:custGeom>
            <a:avLst/>
            <a:gdLst/>
            <a:ahLst/>
            <a:cxnLst/>
            <a:rect l="l" t="t" r="r" b="b"/>
            <a:pathLst>
              <a:path w="380752" h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228874" y="1123950"/>
            <a:ext cx="9830252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Future Scope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409961" y="4103638"/>
            <a:ext cx="9468078" cy="3619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18"/>
              </a:lnSpc>
            </a:pPr>
            <a:r>
              <a:rPr lang="en-US" sz="236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Configurable promotion &amp; allowance policies</a:t>
            </a:r>
          </a:p>
          <a:p>
            <a:pPr algn="ctr">
              <a:lnSpc>
                <a:spcPts val="5918"/>
              </a:lnSpc>
            </a:pPr>
            <a:r>
              <a:rPr lang="en-US" sz="236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Audit logging &amp; historical tracking enhancements</a:t>
            </a:r>
          </a:p>
          <a:p>
            <a:pPr algn="ctr">
              <a:lnSpc>
                <a:spcPts val="5918"/>
              </a:lnSpc>
            </a:pPr>
            <a:r>
              <a:rPr lang="en-US" sz="236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Data export &amp; yearly reporting summaries</a:t>
            </a:r>
          </a:p>
          <a:p>
            <a:pPr algn="ctr">
              <a:lnSpc>
                <a:spcPts val="5918"/>
              </a:lnSpc>
            </a:pPr>
            <a:r>
              <a:rPr lang="en-US" sz="236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Multi-language support &amp; dark mode UI</a:t>
            </a:r>
          </a:p>
          <a:p>
            <a:pPr algn="ctr">
              <a:lnSpc>
                <a:spcPts val="5918"/>
              </a:lnSpc>
            </a:pPr>
            <a:endParaRPr lang="en-US" sz="2367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-585133" y="2138362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1028700" y="2739036"/>
            <a:ext cx="7203393" cy="662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0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 you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5738073"/>
            <a:ext cx="214954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E-mail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178247" y="5712038"/>
            <a:ext cx="536230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muhammadibrahimshoeb@gmail.com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6330711"/>
            <a:ext cx="214954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Webpage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178247" y="6304676"/>
            <a:ext cx="536230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ibrahimify.dev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6923349"/>
            <a:ext cx="214954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Github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178247" y="6897314"/>
            <a:ext cx="536230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@ibrahimify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7515987"/>
            <a:ext cx="214954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Phone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178247" y="7489952"/>
            <a:ext cx="536230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+36 20 628 9542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4803775"/>
            <a:ext cx="476468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b="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CONTACT US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8918575"/>
            <a:ext cx="1802460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PROJ</a:t>
            </a:r>
            <a:r>
              <a:rPr lang="en-US" sz="2000" b="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ECT WILL BE MAINTAINED IN A SHARED GITHUB REPOSITORY WITH VERSION CONTROL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397</Words>
  <Application>Microsoft Office PowerPoint</Application>
  <PresentationFormat>Custom</PresentationFormat>
  <Paragraphs>104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Archivo Black</vt:lpstr>
      <vt:lpstr>Arial</vt:lpstr>
      <vt:lpstr>Garet</vt:lpstr>
      <vt:lpstr>Garet Bold</vt:lpstr>
      <vt:lpstr>Calibri</vt:lpstr>
      <vt:lpstr>Garet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myHR</dc:title>
  <cp:lastModifiedBy>Muhammad Ibrahim Shoeb</cp:lastModifiedBy>
  <cp:revision>3</cp:revision>
  <dcterms:created xsi:type="dcterms:W3CDTF">2006-08-16T00:00:00Z</dcterms:created>
  <dcterms:modified xsi:type="dcterms:W3CDTF">2026-03-13T15:00:33Z</dcterms:modified>
  <dc:identifier>DAHCgXOT-Ic</dc:identifier>
</cp:coreProperties>
</file>