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7" r:id="rId3"/>
    <p:sldId id="258" r:id="rId4"/>
    <p:sldId id="259" r:id="rId5"/>
    <p:sldId id="260" r:id="rId6"/>
    <p:sldId id="269" r:id="rId7"/>
    <p:sldId id="262" r:id="rId8"/>
    <p:sldId id="263" r:id="rId9"/>
    <p:sldId id="264" r:id="rId10"/>
    <p:sldId id="270" r:id="rId11"/>
    <p:sldId id="266" r:id="rId12"/>
    <p:sldId id="271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62633"/>
    <a:srgbClr val="1F2937"/>
    <a:srgbClr val="2E6F40"/>
    <a:srgbClr val="225430"/>
    <a:srgbClr val="0132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39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752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65D54-7CAF-E1ED-1E0D-43E7BA301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873AC4-D2CD-A671-2BBA-83C2DF3C96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D200BD-16E3-E4FC-95BD-A2BCAF1809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85A6DD-0CE4-E060-895B-E80C900C39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8474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3832E-DE0D-F939-7FBA-578F65912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DDDED6-FEB1-5FE2-6571-63397EA802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D46B50-6BD5-319D-B6BB-462338417E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E59C4F-11C8-B2EF-C0CD-BEC618DF7B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6246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F3116-DCC0-D523-B076-251B80888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311ED3-A25E-A20D-B0EA-BB1109FED3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8BE503-9519-3D7C-0DE5-290EF1BD45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48D4B5-4F2B-B940-9B4B-68B37F1929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917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deck/assets/bm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548640"/>
            <a:ext cx="2926080" cy="97840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828800" y="1724660"/>
            <a:ext cx="5486400" cy="914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1"/>
          <p:cNvSpPr/>
          <p:nvPr/>
        </p:nvSpPr>
        <p:spPr>
          <a:xfrm>
            <a:off x="457200" y="2011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kern="0" spc="300" dirty="0">
                <a:solidFill>
                  <a:srgbClr val="FFFFFF"/>
                </a:solidFill>
                <a:latin typeface="Mongolian Baiti" panose="03000500000000000000" pitchFamily="66" charset="0"/>
                <a:ea typeface="Noto sans" panose="020B0502040504020204" pitchFamily="34" charset="0"/>
                <a:cs typeface="Mongolian Baiti" panose="03000500000000000000" pitchFamily="66" charset="0"/>
              </a:rPr>
              <a:t>MyHR.</a:t>
            </a:r>
            <a:endParaRPr lang="en-US" sz="5600" spc="300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kern="0" dirty="0">
                <a:solidFill>
                  <a:srgbClr val="D4A0A8"/>
                </a:solidFill>
                <a:latin typeface="Mongolian Baiti" panose="03000500000000000000" pitchFamily="66" charset="0"/>
                <a:ea typeface="Montserrat" pitchFamily="34" charset="-122"/>
                <a:cs typeface="Mongolian Baiti" panose="03000500000000000000" pitchFamily="66" charset="0"/>
              </a:rPr>
              <a:t>Employee Management System</a:t>
            </a:r>
            <a:endParaRPr lang="en-US" dirty="0">
              <a:latin typeface="Mongolian Baiti" panose="03000500000000000000" pitchFamily="66" charset="0"/>
              <a:cs typeface="Mongolian Baiti" panose="03000500000000000000" pitchFamily="66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MUHAMMAD IBRAHIM SHOEB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657600" y="3931920"/>
            <a:ext cx="1828800" cy="9144"/>
          </a:xfrm>
          <a:prstGeom prst="rect">
            <a:avLst/>
          </a:prstGeom>
          <a:solidFill>
            <a:srgbClr val="D4A0A8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26943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4A0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Supervisor: Dr. Husam Al-</a:t>
            </a:r>
            <a:r>
              <a:rPr lang="en-US" sz="900" dirty="0" err="1">
                <a:solidFill>
                  <a:srgbClr val="D4A0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Magsoosi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57200" y="4020041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4A0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Lab - Spring 2025 - 2026</a:t>
            </a:r>
            <a:endParaRPr lang="en-US" sz="900" dirty="0"/>
          </a:p>
        </p:txBody>
      </p:sp>
      <p:pic>
        <p:nvPicPr>
          <p:cNvPr id="11" name="Image 2" descr="/home/claude/deck/assets/vi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0230" y="4526280"/>
            <a:ext cx="1463040" cy="48463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4728D50-E811-6B99-52AF-D64F4726BC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8939" b="89385" l="3871" r="94194">
                        <a14:foregroundMark x1="3871" y1="36313" x2="3871" y2="36313"/>
                        <a14:foregroundMark x1="11935" y1="36313" x2="11935" y2="36313"/>
                        <a14:foregroundMark x1="24194" y1="32961" x2="24194" y2="32961"/>
                        <a14:foregroundMark x1="49355" y1="72626" x2="49355" y2="72626"/>
                        <a14:foregroundMark x1="94194" y1="35196" x2="94194" y2="35196"/>
                        <a14:foregroundMark x1="56774" y1="30168" x2="56774" y2="3016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43243" y="4628411"/>
            <a:ext cx="485557" cy="28037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718B84-83E0-2647-47BC-4B917BF69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1EF5164-254A-7D2E-1AEF-0E44DC8C73CB}"/>
              </a:ext>
            </a:extLst>
          </p:cNvPr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8A2332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D0B759F-1C5E-B2F3-F339-E3BFDD17C216}"/>
              </a:ext>
            </a:extLst>
          </p:cNvPr>
          <p:cNvSpPr/>
          <p:nvPr/>
        </p:nvSpPr>
        <p:spPr>
          <a:xfrm>
            <a:off x="457200" y="45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tabLst>
                <a:tab pos="571500" algn="l"/>
                <a:tab pos="742950" algn="l"/>
              </a:tabLst>
            </a:pPr>
            <a:r>
              <a:rPr lang="en-US" sz="9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MyHr - Employee Management System</a:t>
            </a:r>
            <a:endParaRPr lang="en-US" sz="9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FD98097-A39C-EEDC-7CB5-38ECE4D68AF5}"/>
              </a:ext>
            </a:extLst>
          </p:cNvPr>
          <p:cNvSpPr/>
          <p:nvPr/>
        </p:nvSpPr>
        <p:spPr>
          <a:xfrm>
            <a:off x="5943600" y="45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M. I. SHOEB  |  SPRING 2026</a:t>
            </a:r>
            <a:endParaRPr lang="en-US" sz="900" dirty="0"/>
          </a:p>
        </p:txBody>
      </p:sp>
      <p:pic>
        <p:nvPicPr>
          <p:cNvPr id="5" name="Image 0" descr="/home/claude/deck/assets/bme_color.png">
            <a:extLst>
              <a:ext uri="{FF2B5EF4-FFF2-40B4-BE49-F238E27FC236}">
                <a16:creationId xmlns:a16="http://schemas.microsoft.com/office/drawing/2014/main" id="{FCDC39BF-7715-01FB-D8C4-E620711EAC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4663440"/>
            <a:ext cx="1371600" cy="457200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2CF80322-1EAF-CABB-092C-93867C7ED25D}"/>
              </a:ext>
            </a:extLst>
          </p:cNvPr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62633"/>
                </a:solidFill>
                <a:latin typeface="Montserrat" pitchFamily="34" charset="0"/>
              </a:rPr>
              <a:t>WHY MyHR?</a:t>
            </a:r>
            <a:endParaRPr lang="en-US" sz="2400" dirty="0">
              <a:solidFill>
                <a:srgbClr val="862633"/>
              </a:solidFill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51D9C22B-E2BA-0DF4-4DCE-BA36AED93DF1}"/>
              </a:ext>
            </a:extLst>
          </p:cNvPr>
          <p:cNvGrpSpPr/>
          <p:nvPr/>
        </p:nvGrpSpPr>
        <p:grpSpPr>
          <a:xfrm>
            <a:off x="1417320" y="1824991"/>
            <a:ext cx="6217920" cy="2606040"/>
            <a:chOff x="1463040" y="1737360"/>
            <a:chExt cx="6217920" cy="2606040"/>
          </a:xfrm>
        </p:grpSpPr>
        <p:sp>
          <p:nvSpPr>
            <p:cNvPr id="7" name="Shape 4">
              <a:extLst>
                <a:ext uri="{FF2B5EF4-FFF2-40B4-BE49-F238E27FC236}">
                  <a16:creationId xmlns:a16="http://schemas.microsoft.com/office/drawing/2014/main" id="{C6F6E249-951E-C9E2-4998-65793226E566}"/>
                </a:ext>
              </a:extLst>
            </p:cNvPr>
            <p:cNvSpPr/>
            <p:nvPr/>
          </p:nvSpPr>
          <p:spPr>
            <a:xfrm>
              <a:off x="1463040" y="1737360"/>
              <a:ext cx="1920240" cy="260604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762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8" name="Shape 5">
              <a:extLst>
                <a:ext uri="{FF2B5EF4-FFF2-40B4-BE49-F238E27FC236}">
                  <a16:creationId xmlns:a16="http://schemas.microsoft.com/office/drawing/2014/main" id="{4C5BD6C5-AE3A-6C5D-FD02-AB284CEE924B}"/>
                </a:ext>
              </a:extLst>
            </p:cNvPr>
            <p:cNvSpPr/>
            <p:nvPr/>
          </p:nvSpPr>
          <p:spPr>
            <a:xfrm>
              <a:off x="1463040" y="1737360"/>
              <a:ext cx="1920240" cy="54864"/>
            </a:xfrm>
            <a:prstGeom prst="rect">
              <a:avLst/>
            </a:prstGeom>
            <a:solidFill>
              <a:srgbClr val="8A2332"/>
            </a:solidFill>
            <a:ln/>
          </p:spPr>
        </p:sp>
        <p:sp>
          <p:nvSpPr>
            <p:cNvPr id="9" name="Shape 6">
              <a:extLst>
                <a:ext uri="{FF2B5EF4-FFF2-40B4-BE49-F238E27FC236}">
                  <a16:creationId xmlns:a16="http://schemas.microsoft.com/office/drawing/2014/main" id="{062D36D9-D7E6-BE25-D9F3-29CC4D80440A}"/>
                </a:ext>
              </a:extLst>
            </p:cNvPr>
            <p:cNvSpPr/>
            <p:nvPr/>
          </p:nvSpPr>
          <p:spPr>
            <a:xfrm>
              <a:off x="2103120" y="1965960"/>
              <a:ext cx="640080" cy="640080"/>
            </a:xfrm>
            <a:prstGeom prst="ellipse">
              <a:avLst/>
            </a:prstGeom>
            <a:solidFill>
              <a:srgbClr val="8A2332"/>
            </a:solidFill>
            <a:ln/>
          </p:spPr>
        </p:sp>
        <p:pic>
          <p:nvPicPr>
            <p:cNvPr id="10" name="Image 1" descr="/home/claude/deck/assets/ic_desktop.png">
              <a:extLst>
                <a:ext uri="{FF2B5EF4-FFF2-40B4-BE49-F238E27FC236}">
                  <a16:creationId xmlns:a16="http://schemas.microsoft.com/office/drawing/2014/main" id="{FC7C23F0-C467-6942-54EF-1589B021F5D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212848" y="2075688"/>
              <a:ext cx="411480" cy="411480"/>
            </a:xfrm>
            <a:prstGeom prst="rect">
              <a:avLst/>
            </a:prstGeom>
          </p:spPr>
        </p:pic>
        <p:sp>
          <p:nvSpPr>
            <p:cNvPr id="11" name="Text 7">
              <a:extLst>
                <a:ext uri="{FF2B5EF4-FFF2-40B4-BE49-F238E27FC236}">
                  <a16:creationId xmlns:a16="http://schemas.microsoft.com/office/drawing/2014/main" id="{F4C1DA94-B72A-A0AD-A729-ADDB984B13BE}"/>
                </a:ext>
              </a:extLst>
            </p:cNvPr>
            <p:cNvSpPr/>
            <p:nvPr/>
          </p:nvSpPr>
          <p:spPr>
            <a:xfrm>
              <a:off x="1600200" y="2743200"/>
              <a:ext cx="164592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kern="0" dirty="0">
                  <a:solidFill>
                    <a:srgbClr val="8A2332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OFFLINE</a:t>
              </a:r>
              <a:endParaRPr lang="en-US" sz="1300" dirty="0"/>
            </a:p>
          </p:txBody>
        </p:sp>
        <p:sp>
          <p:nvSpPr>
            <p:cNvPr id="12" name="Text 8">
              <a:extLst>
                <a:ext uri="{FF2B5EF4-FFF2-40B4-BE49-F238E27FC236}">
                  <a16:creationId xmlns:a16="http://schemas.microsoft.com/office/drawing/2014/main" id="{493780B2-F2EA-C455-0098-AC0E93CC1772}"/>
                </a:ext>
              </a:extLst>
            </p:cNvPr>
            <p:cNvSpPr/>
            <p:nvPr/>
          </p:nvSpPr>
          <p:spPr>
            <a:xfrm>
              <a:off x="1600200" y="3108960"/>
              <a:ext cx="1645920" cy="9804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dirty="0">
                  <a:solidFill>
                    <a:srgbClr val="6B728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No server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dirty="0">
                  <a:solidFill>
                    <a:srgbClr val="6B728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No internet</a:t>
              </a:r>
              <a:endParaRPr lang="en-US" sz="10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dirty="0">
                  <a:solidFill>
                    <a:srgbClr val="6B728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Runs on any Windows PC</a:t>
              </a:r>
              <a:endParaRPr lang="en-US" sz="1000" dirty="0"/>
            </a:p>
          </p:txBody>
        </p:sp>
        <p:sp>
          <p:nvSpPr>
            <p:cNvPr id="13" name="Shape 9">
              <a:extLst>
                <a:ext uri="{FF2B5EF4-FFF2-40B4-BE49-F238E27FC236}">
                  <a16:creationId xmlns:a16="http://schemas.microsoft.com/office/drawing/2014/main" id="{1E3354CE-25CF-77FC-1064-637E0071A3C7}"/>
                </a:ext>
              </a:extLst>
            </p:cNvPr>
            <p:cNvSpPr/>
            <p:nvPr/>
          </p:nvSpPr>
          <p:spPr>
            <a:xfrm>
              <a:off x="3611880" y="1737360"/>
              <a:ext cx="1920240" cy="260604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762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4" name="Shape 10">
              <a:extLst>
                <a:ext uri="{FF2B5EF4-FFF2-40B4-BE49-F238E27FC236}">
                  <a16:creationId xmlns:a16="http://schemas.microsoft.com/office/drawing/2014/main" id="{E06FEB35-C4E3-A909-ED92-A5911918FC91}"/>
                </a:ext>
              </a:extLst>
            </p:cNvPr>
            <p:cNvSpPr/>
            <p:nvPr/>
          </p:nvSpPr>
          <p:spPr>
            <a:xfrm>
              <a:off x="3611880" y="1737360"/>
              <a:ext cx="1920240" cy="54864"/>
            </a:xfrm>
            <a:prstGeom prst="rect">
              <a:avLst/>
            </a:prstGeom>
            <a:solidFill>
              <a:srgbClr val="862633"/>
            </a:solidFill>
            <a:ln/>
          </p:spPr>
        </p:sp>
        <p:sp>
          <p:nvSpPr>
            <p:cNvPr id="15" name="Shape 11">
              <a:extLst>
                <a:ext uri="{FF2B5EF4-FFF2-40B4-BE49-F238E27FC236}">
                  <a16:creationId xmlns:a16="http://schemas.microsoft.com/office/drawing/2014/main" id="{8610F086-59EF-3BF9-E00B-8E7E2CBCB1D7}"/>
                </a:ext>
              </a:extLst>
            </p:cNvPr>
            <p:cNvSpPr/>
            <p:nvPr/>
          </p:nvSpPr>
          <p:spPr>
            <a:xfrm>
              <a:off x="4251960" y="1965960"/>
              <a:ext cx="640080" cy="640080"/>
            </a:xfrm>
            <a:prstGeom prst="ellipse">
              <a:avLst/>
            </a:prstGeom>
            <a:solidFill>
              <a:srgbClr val="862633"/>
            </a:solidFill>
            <a:ln/>
          </p:spPr>
          <p:txBody>
            <a:bodyPr/>
            <a:lstStyle/>
            <a:p>
              <a:endParaRPr lang="en-IN" dirty="0"/>
            </a:p>
          </p:txBody>
        </p:sp>
        <p:pic>
          <p:nvPicPr>
            <p:cNvPr id="16" name="Image 2" descr="/home/claude/deck/assets/ic_admin.png">
              <a:extLst>
                <a:ext uri="{FF2B5EF4-FFF2-40B4-BE49-F238E27FC236}">
                  <a16:creationId xmlns:a16="http://schemas.microsoft.com/office/drawing/2014/main" id="{487A33CA-DD30-3774-C76E-95E9C80A970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361688" y="2075688"/>
              <a:ext cx="411480" cy="411480"/>
            </a:xfrm>
            <a:prstGeom prst="rect">
              <a:avLst/>
            </a:prstGeom>
          </p:spPr>
        </p:pic>
        <p:sp>
          <p:nvSpPr>
            <p:cNvPr id="17" name="Text 12">
              <a:extLst>
                <a:ext uri="{FF2B5EF4-FFF2-40B4-BE49-F238E27FC236}">
                  <a16:creationId xmlns:a16="http://schemas.microsoft.com/office/drawing/2014/main" id="{2013E10B-968E-D39F-D505-4A67AB424465}"/>
                </a:ext>
              </a:extLst>
            </p:cNvPr>
            <p:cNvSpPr/>
            <p:nvPr/>
          </p:nvSpPr>
          <p:spPr>
            <a:xfrm>
              <a:off x="3749040" y="2743200"/>
              <a:ext cx="164592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kern="0" dirty="0">
                  <a:solidFill>
                    <a:srgbClr val="862633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ACCOUNTABILITY</a:t>
              </a:r>
              <a:endParaRPr lang="en-US" sz="1200" dirty="0">
                <a:solidFill>
                  <a:srgbClr val="862633"/>
                </a:solidFill>
              </a:endParaRPr>
            </a:p>
          </p:txBody>
        </p:sp>
        <p:sp>
          <p:nvSpPr>
            <p:cNvPr id="18" name="Text 13">
              <a:extLst>
                <a:ext uri="{FF2B5EF4-FFF2-40B4-BE49-F238E27FC236}">
                  <a16:creationId xmlns:a16="http://schemas.microsoft.com/office/drawing/2014/main" id="{AC540617-AD9B-6A40-8FB9-DED757570AAC}"/>
                </a:ext>
              </a:extLst>
            </p:cNvPr>
            <p:cNvSpPr/>
            <p:nvPr/>
          </p:nvSpPr>
          <p:spPr>
            <a:xfrm>
              <a:off x="3749040" y="3108960"/>
              <a:ext cx="1645920" cy="9804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dirty="0">
                  <a:solidFill>
                    <a:srgbClr val="6B728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Immutable audit trail</a:t>
              </a:r>
              <a:endParaRPr lang="en-US" sz="10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dirty="0">
                  <a:solidFill>
                    <a:srgbClr val="6B728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Username snapshots</a:t>
              </a:r>
              <a:endParaRPr lang="en-US" sz="10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dirty="0">
                  <a:solidFill>
                    <a:srgbClr val="6B7280"/>
                  </a:solidFill>
                  <a:latin typeface="Montserrat" pitchFamily="34" charset="0"/>
                </a:rPr>
                <a:t>Role Separation</a:t>
              </a:r>
              <a:endParaRPr lang="en-US" sz="1000" dirty="0"/>
            </a:p>
          </p:txBody>
        </p:sp>
        <p:sp>
          <p:nvSpPr>
            <p:cNvPr id="19" name="Shape 14">
              <a:extLst>
                <a:ext uri="{FF2B5EF4-FFF2-40B4-BE49-F238E27FC236}">
                  <a16:creationId xmlns:a16="http://schemas.microsoft.com/office/drawing/2014/main" id="{9FD4F450-79E1-5BBD-FC5C-56D8CC821B06}"/>
                </a:ext>
              </a:extLst>
            </p:cNvPr>
            <p:cNvSpPr/>
            <p:nvPr/>
          </p:nvSpPr>
          <p:spPr>
            <a:xfrm>
              <a:off x="5760720" y="1737360"/>
              <a:ext cx="1920240" cy="260604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762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20" name="Shape 15">
              <a:extLst>
                <a:ext uri="{FF2B5EF4-FFF2-40B4-BE49-F238E27FC236}">
                  <a16:creationId xmlns:a16="http://schemas.microsoft.com/office/drawing/2014/main" id="{3AC57A05-0D56-A52E-940E-6F3A70B457BE}"/>
                </a:ext>
              </a:extLst>
            </p:cNvPr>
            <p:cNvSpPr/>
            <p:nvPr/>
          </p:nvSpPr>
          <p:spPr>
            <a:xfrm>
              <a:off x="5760720" y="1737360"/>
              <a:ext cx="1920240" cy="54864"/>
            </a:xfrm>
            <a:prstGeom prst="rect">
              <a:avLst/>
            </a:prstGeom>
            <a:solidFill>
              <a:srgbClr val="862633"/>
            </a:solidFill>
            <a:ln/>
          </p:spPr>
        </p:sp>
        <p:sp>
          <p:nvSpPr>
            <p:cNvPr id="21" name="Shape 16">
              <a:extLst>
                <a:ext uri="{FF2B5EF4-FFF2-40B4-BE49-F238E27FC236}">
                  <a16:creationId xmlns:a16="http://schemas.microsoft.com/office/drawing/2014/main" id="{1AE947C5-F99C-3A22-55D1-0835C02A0D4E}"/>
                </a:ext>
              </a:extLst>
            </p:cNvPr>
            <p:cNvSpPr/>
            <p:nvPr/>
          </p:nvSpPr>
          <p:spPr>
            <a:xfrm>
              <a:off x="6400800" y="1965960"/>
              <a:ext cx="640080" cy="640080"/>
            </a:xfrm>
            <a:prstGeom prst="ellipse">
              <a:avLst/>
            </a:prstGeom>
            <a:solidFill>
              <a:srgbClr val="862633"/>
            </a:solidFill>
            <a:ln/>
          </p:spPr>
        </p:sp>
        <p:pic>
          <p:nvPicPr>
            <p:cNvPr id="22" name="Image 3" descr="/home/claude/deck/assets/ic_race.png">
              <a:extLst>
                <a:ext uri="{FF2B5EF4-FFF2-40B4-BE49-F238E27FC236}">
                  <a16:creationId xmlns:a16="http://schemas.microsoft.com/office/drawing/2014/main" id="{CBCDD460-A6C9-7915-1D75-07C60DF5175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510528" y="2075688"/>
              <a:ext cx="411480" cy="411480"/>
            </a:xfrm>
            <a:prstGeom prst="rect">
              <a:avLst/>
            </a:prstGeom>
          </p:spPr>
        </p:pic>
        <p:sp>
          <p:nvSpPr>
            <p:cNvPr id="23" name="Text 17">
              <a:extLst>
                <a:ext uri="{FF2B5EF4-FFF2-40B4-BE49-F238E27FC236}">
                  <a16:creationId xmlns:a16="http://schemas.microsoft.com/office/drawing/2014/main" id="{831F2E10-DEF9-3AFC-4C04-1170C6C649A3}"/>
                </a:ext>
              </a:extLst>
            </p:cNvPr>
            <p:cNvSpPr/>
            <p:nvPr/>
          </p:nvSpPr>
          <p:spPr>
            <a:xfrm>
              <a:off x="5897880" y="2743200"/>
              <a:ext cx="164592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kern="0" dirty="0">
                  <a:solidFill>
                    <a:srgbClr val="862633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PROMOTION TRACKING</a:t>
              </a:r>
              <a:endParaRPr lang="en-US" sz="1300" dirty="0">
                <a:solidFill>
                  <a:srgbClr val="862633"/>
                </a:solidFill>
              </a:endParaRPr>
            </a:p>
          </p:txBody>
        </p:sp>
        <p:sp>
          <p:nvSpPr>
            <p:cNvPr id="24" name="Text 18">
              <a:extLst>
                <a:ext uri="{FF2B5EF4-FFF2-40B4-BE49-F238E27FC236}">
                  <a16:creationId xmlns:a16="http://schemas.microsoft.com/office/drawing/2014/main" id="{4123F91A-4048-77A9-890B-9A45F09EAAA5}"/>
                </a:ext>
              </a:extLst>
            </p:cNvPr>
            <p:cNvSpPr/>
            <p:nvPr/>
          </p:nvSpPr>
          <p:spPr>
            <a:xfrm>
              <a:off x="5897880" y="3108960"/>
              <a:ext cx="1645920" cy="9804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dirty="0">
                  <a:solidFill>
                    <a:srgbClr val="6B728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Promotion race calculated</a:t>
              </a:r>
              <a:endParaRPr lang="en-US" sz="10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dirty="0">
                  <a:solidFill>
                    <a:srgbClr val="6B728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Live from raw records</a:t>
              </a:r>
              <a:endParaRPr lang="en-US" sz="10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000" dirty="0">
                  <a:solidFill>
                    <a:srgbClr val="6B7280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Never stored in DB</a:t>
              </a:r>
              <a:endParaRPr lang="en-US" sz="1000" dirty="0"/>
            </a:p>
          </p:txBody>
        </p:sp>
      </p:grpSp>
      <p:sp>
        <p:nvSpPr>
          <p:cNvPr id="35" name="Text 4">
            <a:extLst>
              <a:ext uri="{FF2B5EF4-FFF2-40B4-BE49-F238E27FC236}">
                <a16:creationId xmlns:a16="http://schemas.microsoft.com/office/drawing/2014/main" id="{3A7F6CFF-46D5-5141-CCC0-4D5DE48176AF}"/>
              </a:ext>
            </a:extLst>
          </p:cNvPr>
          <p:cNvSpPr/>
          <p:nvPr/>
        </p:nvSpPr>
        <p:spPr>
          <a:xfrm>
            <a:off x="365760" y="1071372"/>
            <a:ext cx="8229600" cy="9441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Designed to manage personnel records, organizational structure, and promotion progress without cloud infrastructure.</a:t>
            </a:r>
          </a:p>
        </p:txBody>
      </p:sp>
    </p:spTree>
    <p:extLst>
      <p:ext uri="{BB962C8B-B14F-4D97-AF65-F5344CB8AC3E}">
        <p14:creationId xmlns:p14="http://schemas.microsoft.com/office/powerpoint/2010/main" val="4226528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8A23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tabLst>
                <a:tab pos="571500" algn="l"/>
                <a:tab pos="742950" algn="l"/>
              </a:tabLst>
            </a:pPr>
            <a:r>
              <a:rPr lang="en-US" sz="9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MyHr - Employee Management System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0" y="45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M. I. SHOEB  |  SPRING 2026</a:t>
            </a:r>
            <a:endParaRPr lang="en-US" sz="900" dirty="0"/>
          </a:p>
        </p:txBody>
      </p:sp>
      <p:pic>
        <p:nvPicPr>
          <p:cNvPr id="5" name="Image 0" descr="/home/claude/deck/assets/bme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4663440"/>
            <a:ext cx="13716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548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8626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 OVERVIEW</a:t>
            </a:r>
            <a:endParaRPr lang="en-US" sz="2400" dirty="0">
              <a:solidFill>
                <a:srgbClr val="862633"/>
              </a:solidFill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BAF1F769-F492-61D1-F2AC-87067DA7F1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1" y="1176428"/>
            <a:ext cx="6026150" cy="3386960"/>
          </a:xfrm>
          <a:prstGeom prst="rect">
            <a:avLst/>
          </a:prstGeom>
          <a:effectLst>
            <a:outerShdw blurRad="76200" dist="38100" dir="8100000" algn="tr" rotWithShape="0">
              <a:prstClr val="black">
                <a:alpha val="12000"/>
              </a:prstClr>
            </a:outerShdw>
          </a:effectLst>
        </p:spPr>
      </p:pic>
      <p:sp>
        <p:nvSpPr>
          <p:cNvPr id="35" name="Text 4">
            <a:extLst>
              <a:ext uri="{FF2B5EF4-FFF2-40B4-BE49-F238E27FC236}">
                <a16:creationId xmlns:a16="http://schemas.microsoft.com/office/drawing/2014/main" id="{95EB82C3-5E18-AA07-D928-398FD0CB2272}"/>
              </a:ext>
            </a:extLst>
          </p:cNvPr>
          <p:cNvSpPr/>
          <p:nvPr/>
        </p:nvSpPr>
        <p:spPr>
          <a:xfrm>
            <a:off x="6623050" y="2095208"/>
            <a:ext cx="2692400" cy="1549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1F2937"/>
                </a:solidFill>
                <a:latin typeface="Montserrat" pitchFamily="34" charset="0"/>
              </a:rPr>
              <a:t>Employee</a:t>
            </a:r>
            <a:r>
              <a:rPr lang="en-US" sz="1200" b="1" dirty="0"/>
              <a:t> </a:t>
            </a:r>
            <a:r>
              <a:rPr lang="en-US" sz="1200" b="1" dirty="0">
                <a:solidFill>
                  <a:srgbClr val="1F2937"/>
                </a:solidFill>
                <a:latin typeface="Montserrat" pitchFamily="34" charset="0"/>
              </a:rPr>
              <a:t>Statistics</a:t>
            </a:r>
          </a:p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endParaRPr lang="en-US" sz="1200" b="1" dirty="0">
              <a:solidFill>
                <a:srgbClr val="1F2937"/>
              </a:solidFill>
              <a:latin typeface="Montserrat" pitchFamily="34" charset="0"/>
            </a:endParaRPr>
          </a:p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1F2937"/>
                </a:solidFill>
                <a:latin typeface="Montserrat" pitchFamily="34" charset="0"/>
              </a:rPr>
              <a:t>Promotion Monitoring</a:t>
            </a:r>
          </a:p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endParaRPr lang="en-US" sz="1200" b="1" dirty="0">
              <a:solidFill>
                <a:srgbClr val="1F2937"/>
              </a:solidFill>
              <a:latin typeface="Montserrat" pitchFamily="34" charset="0"/>
            </a:endParaRPr>
          </a:p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1F2937"/>
                </a:solidFill>
                <a:latin typeface="Montserrat" pitchFamily="34" charset="0"/>
              </a:rPr>
              <a:t>Recent Activity</a:t>
            </a:r>
          </a:p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endParaRPr lang="en-US" sz="1200" b="1" dirty="0">
              <a:solidFill>
                <a:srgbClr val="1F2937"/>
              </a:solidFill>
              <a:latin typeface="Montserrat" pitchFamily="34" charset="0"/>
            </a:endParaRPr>
          </a:p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1F2937"/>
                </a:solidFill>
                <a:latin typeface="Montserrat" pitchFamily="34" charset="0"/>
              </a:rPr>
              <a:t>Salary Alerts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8A23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tabLst>
                <a:tab pos="571500" algn="l"/>
                <a:tab pos="742950" algn="l"/>
              </a:tabLst>
            </a:pPr>
            <a:r>
              <a:rPr lang="en-US" sz="9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MyHr - Employee Management System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0" y="45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M. I. SHOEB  |  SPRING 2026</a:t>
            </a:r>
            <a:endParaRPr lang="en-US" sz="900" dirty="0"/>
          </a:p>
        </p:txBody>
      </p:sp>
      <p:pic>
        <p:nvPicPr>
          <p:cNvPr id="5" name="Image 0" descr="/home/claude/deck/assets/bme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4663440"/>
            <a:ext cx="1371600" cy="457200"/>
          </a:xfrm>
          <a:prstGeom prst="rect">
            <a:avLst/>
          </a:prstGeom>
        </p:spPr>
      </p:pic>
      <p:pic>
        <p:nvPicPr>
          <p:cNvPr id="7" name="Image 1" descr="/home/claude/deck/assets/architecture.png"/>
          <p:cNvPicPr>
            <a:picLocks noChangeAspect="1"/>
          </p:cNvPicPr>
          <p:nvPr/>
        </p:nvPicPr>
        <p:blipFill>
          <a:blip r:embed="rId4"/>
          <a:srcRect t="45238" b="29166"/>
          <a:stretch>
            <a:fillRect/>
          </a:stretch>
        </p:blipFill>
        <p:spPr>
          <a:xfrm>
            <a:off x="324658" y="3430905"/>
            <a:ext cx="8595360" cy="1365250"/>
          </a:xfrm>
          <a:prstGeom prst="rect">
            <a:avLst/>
          </a:prstGeom>
        </p:spPr>
      </p:pic>
      <p:sp>
        <p:nvSpPr>
          <p:cNvPr id="10" name="Text 3">
            <a:extLst>
              <a:ext uri="{FF2B5EF4-FFF2-40B4-BE49-F238E27FC236}">
                <a16:creationId xmlns:a16="http://schemas.microsoft.com/office/drawing/2014/main" id="{755180AD-61F2-546C-2CE6-8FC30BB99130}"/>
              </a:ext>
            </a:extLst>
          </p:cNvPr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626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 ARCHITECTURE</a:t>
            </a:r>
            <a:endParaRPr lang="en-US" sz="2400" dirty="0">
              <a:solidFill>
                <a:srgbClr val="862633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3B1D1E7-F5FC-746C-8CB8-864C78C3F39B}"/>
              </a:ext>
            </a:extLst>
          </p:cNvPr>
          <p:cNvGrpSpPr/>
          <p:nvPr/>
        </p:nvGrpSpPr>
        <p:grpSpPr>
          <a:xfrm>
            <a:off x="708342" y="1097280"/>
            <a:ext cx="7727315" cy="2087880"/>
            <a:chOff x="787400" y="1036320"/>
            <a:chExt cx="7727315" cy="2087880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DB2E84B9-DD4A-8F49-4D8C-D4797C64F375}"/>
                </a:ext>
              </a:extLst>
            </p:cNvPr>
            <p:cNvSpPr/>
            <p:nvPr/>
          </p:nvSpPr>
          <p:spPr>
            <a:xfrm>
              <a:off x="787400" y="1036320"/>
              <a:ext cx="2216150" cy="2057400"/>
            </a:xfrm>
            <a:prstGeom prst="roundRect">
              <a:avLst>
                <a:gd name="adj" fmla="val 4939"/>
              </a:avLst>
            </a:prstGeom>
            <a:solidFill>
              <a:srgbClr val="8626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4FB564B6-F95A-6775-41EB-5B75AFA2E0CC}"/>
                </a:ext>
              </a:extLst>
            </p:cNvPr>
            <p:cNvSpPr/>
            <p:nvPr/>
          </p:nvSpPr>
          <p:spPr>
            <a:xfrm>
              <a:off x="3542982" y="1036320"/>
              <a:ext cx="2216150" cy="2087880"/>
            </a:xfrm>
            <a:prstGeom prst="roundRect">
              <a:avLst>
                <a:gd name="adj" fmla="val 4939"/>
              </a:avLst>
            </a:prstGeom>
            <a:solidFill>
              <a:srgbClr val="8626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202B094E-CC53-04A7-63E2-7CDBBCCDC8F6}"/>
                </a:ext>
              </a:extLst>
            </p:cNvPr>
            <p:cNvSpPr/>
            <p:nvPr/>
          </p:nvSpPr>
          <p:spPr>
            <a:xfrm>
              <a:off x="6298565" y="1036320"/>
              <a:ext cx="2216150" cy="2087880"/>
            </a:xfrm>
            <a:prstGeom prst="roundRect">
              <a:avLst>
                <a:gd name="adj" fmla="val 4939"/>
              </a:avLst>
            </a:prstGeom>
            <a:solidFill>
              <a:srgbClr val="86263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81CFC34-E77B-85DF-9FFF-8AA11C1628B6}"/>
              </a:ext>
            </a:extLst>
          </p:cNvPr>
          <p:cNvCxnSpPr>
            <a:cxnSpLocks/>
          </p:cNvCxnSpPr>
          <p:nvPr/>
        </p:nvCxnSpPr>
        <p:spPr>
          <a:xfrm>
            <a:off x="1009650" y="1511300"/>
            <a:ext cx="164465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E734191-B694-B3A5-A511-6366086D1F45}"/>
              </a:ext>
            </a:extLst>
          </p:cNvPr>
          <p:cNvCxnSpPr>
            <a:cxnSpLocks/>
          </p:cNvCxnSpPr>
          <p:nvPr/>
        </p:nvCxnSpPr>
        <p:spPr>
          <a:xfrm>
            <a:off x="3749674" y="1511300"/>
            <a:ext cx="164465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5234883-D021-1F47-F537-D2CC7D421E9C}"/>
              </a:ext>
            </a:extLst>
          </p:cNvPr>
          <p:cNvCxnSpPr>
            <a:cxnSpLocks/>
          </p:cNvCxnSpPr>
          <p:nvPr/>
        </p:nvCxnSpPr>
        <p:spPr>
          <a:xfrm>
            <a:off x="6539230" y="1511300"/>
            <a:ext cx="164465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1628D2C-BC27-7137-F9C2-F584383886A1}"/>
              </a:ext>
            </a:extLst>
          </p:cNvPr>
          <p:cNvSpPr txBox="1"/>
          <p:nvPr/>
        </p:nvSpPr>
        <p:spPr>
          <a:xfrm>
            <a:off x="1060450" y="1196142"/>
            <a:ext cx="14605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Montserrat" pitchFamily="34" charset="0"/>
              </a:rPr>
              <a:t>UI LAYER</a:t>
            </a:r>
            <a:r>
              <a:rPr lang="en-US" sz="1400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</a:t>
            </a:r>
            <a:endParaRPr lang="en-IN" sz="14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22ED329-EDEB-675C-A695-97D8150B8D4D}"/>
              </a:ext>
            </a:extLst>
          </p:cNvPr>
          <p:cNvSpPr txBox="1"/>
          <p:nvPr/>
        </p:nvSpPr>
        <p:spPr>
          <a:xfrm>
            <a:off x="3625850" y="1209626"/>
            <a:ext cx="18859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Montserrat" pitchFamily="34" charset="0"/>
              </a:rPr>
              <a:t>BUSINESS LAYER</a:t>
            </a:r>
            <a:endParaRPr lang="en-IN" sz="14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2F765A7-2357-CB06-4D31-42ED9AD15BF3}"/>
              </a:ext>
            </a:extLst>
          </p:cNvPr>
          <p:cNvSpPr txBox="1"/>
          <p:nvPr/>
        </p:nvSpPr>
        <p:spPr>
          <a:xfrm>
            <a:off x="6418580" y="1215053"/>
            <a:ext cx="18859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chemeClr val="bg1"/>
                </a:solidFill>
                <a:latin typeface="Montserrat" pitchFamily="34" charset="0"/>
              </a:rPr>
              <a:t>DATA LAYER</a:t>
            </a:r>
            <a:endParaRPr lang="en-IN" sz="1400" dirty="0">
              <a:solidFill>
                <a:schemeClr val="bg1"/>
              </a:solidFill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29" name="Graphic 28" descr="Line arrow Straight">
            <a:extLst>
              <a:ext uri="{FF2B5EF4-FFF2-40B4-BE49-F238E27FC236}">
                <a16:creationId xmlns:a16="http://schemas.microsoft.com/office/drawing/2014/main" id="{4763CA02-B10D-4128-972D-D613E52514B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2924492" y="1912620"/>
            <a:ext cx="539432" cy="457200"/>
          </a:xfrm>
          <a:prstGeom prst="rect">
            <a:avLst/>
          </a:prstGeom>
        </p:spPr>
      </p:pic>
      <p:pic>
        <p:nvPicPr>
          <p:cNvPr id="30" name="Graphic 29" descr="Line arrow Straight">
            <a:extLst>
              <a:ext uri="{FF2B5EF4-FFF2-40B4-BE49-F238E27FC236}">
                <a16:creationId xmlns:a16="http://schemas.microsoft.com/office/drawing/2014/main" id="{09EBE677-858F-033E-5FF6-E4E2DFAE289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H="1">
            <a:off x="5673884" y="1918970"/>
            <a:ext cx="539432" cy="4572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3E04EEF5-2E3A-F16E-0299-FBF30B6E0335}"/>
              </a:ext>
            </a:extLst>
          </p:cNvPr>
          <p:cNvSpPr txBox="1"/>
          <p:nvPr/>
        </p:nvSpPr>
        <p:spPr>
          <a:xfrm>
            <a:off x="901700" y="1694046"/>
            <a:ext cx="17780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100" dirty="0">
                <a:solidFill>
                  <a:schemeClr val="bg1"/>
                </a:solidFill>
                <a:latin typeface="Montserrat" pitchFamily="34" charset="0"/>
              </a:rPr>
              <a:t>Authentication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>
                <a:solidFill>
                  <a:schemeClr val="bg1"/>
                </a:solidFill>
                <a:latin typeface="Montserrat" pitchFamily="34" charset="0"/>
              </a:rPr>
              <a:t>Employee Management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100" dirty="0">
                <a:solidFill>
                  <a:schemeClr val="bg1"/>
                </a:solidFill>
                <a:latin typeface="Montserrat" pitchFamily="34" charset="0"/>
              </a:rPr>
              <a:t>Administration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>
                <a:solidFill>
                  <a:schemeClr val="bg1"/>
                </a:solidFill>
                <a:latin typeface="Montserrat" pitchFamily="34" charset="0"/>
              </a:rPr>
              <a:t>Reporting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611C71A-15F0-3626-4783-675499B2D6EF}"/>
              </a:ext>
            </a:extLst>
          </p:cNvPr>
          <p:cNvSpPr txBox="1"/>
          <p:nvPr/>
        </p:nvSpPr>
        <p:spPr>
          <a:xfrm>
            <a:off x="3625850" y="1750696"/>
            <a:ext cx="1819275" cy="9946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>
                <a:solidFill>
                  <a:schemeClr val="bg1"/>
                </a:solidFill>
                <a:latin typeface="Montserrat" pitchFamily="34" charset="0"/>
              </a:rPr>
              <a:t>Promotion Engine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100" dirty="0">
                <a:solidFill>
                  <a:schemeClr val="bg1"/>
                </a:solidFill>
                <a:latin typeface="Montserrat" pitchFamily="34" charset="0"/>
              </a:rPr>
              <a:t>Audit Services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100" dirty="0">
                <a:solidFill>
                  <a:schemeClr val="bg1"/>
                </a:solidFill>
                <a:latin typeface="Montserrat" pitchFamily="34" charset="0"/>
              </a:rPr>
              <a:t>Salary Workflow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100" dirty="0">
                <a:solidFill>
                  <a:schemeClr val="bg1"/>
                </a:solidFill>
                <a:latin typeface="Montserrat" pitchFamily="34" charset="0"/>
              </a:rPr>
              <a:t>Import / Export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9CA2BF4-E4C6-C844-606F-483016CC47CC}"/>
              </a:ext>
            </a:extLst>
          </p:cNvPr>
          <p:cNvSpPr txBox="1"/>
          <p:nvPr/>
        </p:nvSpPr>
        <p:spPr>
          <a:xfrm>
            <a:off x="6435725" y="1750696"/>
            <a:ext cx="1819275" cy="9946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100" dirty="0">
                <a:solidFill>
                  <a:schemeClr val="bg1"/>
                </a:solidFill>
                <a:latin typeface="Montserrat" pitchFamily="34" charset="0"/>
              </a:rPr>
              <a:t>SQLite Database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100" dirty="0">
                <a:solidFill>
                  <a:schemeClr val="bg1"/>
                </a:solidFill>
                <a:latin typeface="Montserrat" pitchFamily="34" charset="0"/>
              </a:rPr>
              <a:t>ORM Layer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100" dirty="0">
                <a:solidFill>
                  <a:schemeClr val="bg1"/>
                </a:solidFill>
                <a:latin typeface="Montserrat" pitchFamily="34" charset="0"/>
              </a:rPr>
              <a:t>Persistence Services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100" dirty="0">
                <a:solidFill>
                  <a:schemeClr val="bg1"/>
                </a:solidFill>
                <a:latin typeface="Montserrat" pitchFamily="34" charset="0"/>
              </a:rPr>
              <a:t>11 Tables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8A23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tabLst>
                <a:tab pos="571500" algn="l"/>
                <a:tab pos="742950" algn="l"/>
              </a:tabLst>
            </a:pPr>
            <a:r>
              <a:rPr lang="en-US" sz="9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MyHr - Employee Management System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0" y="45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M. I. SHOEB  |  SPRING 2026</a:t>
            </a:r>
            <a:endParaRPr lang="en-US" sz="900" dirty="0"/>
          </a:p>
        </p:txBody>
      </p:sp>
      <p:pic>
        <p:nvPicPr>
          <p:cNvPr id="5" name="Image 0" descr="/home/claude/deck/assets/bme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4663440"/>
            <a:ext cx="13716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626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EMPLOYEE MANAGEMENT &amp; ORG HIERARCHY</a:t>
            </a:r>
            <a:endParaRPr lang="en-US" sz="2400" dirty="0">
              <a:solidFill>
                <a:srgbClr val="862633"/>
              </a:solidFill>
            </a:endParaRPr>
          </a:p>
        </p:txBody>
      </p:sp>
      <p:pic>
        <p:nvPicPr>
          <p:cNvPr id="7" name="Image 1" descr="/home/claude/deck/assets/employe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1188720"/>
            <a:ext cx="4206240" cy="2368296"/>
          </a:xfrm>
          <a:prstGeom prst="rect">
            <a:avLst/>
          </a:prstGeom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8" name="Text 4"/>
          <p:cNvSpPr/>
          <p:nvPr/>
        </p:nvSpPr>
        <p:spPr>
          <a:xfrm>
            <a:off x="274320" y="365760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IN" sz="1000" dirty="0">
                <a:solidFill>
                  <a:srgbClr val="1F2937"/>
                </a:solidFill>
                <a:latin typeface="Montserrat" pitchFamily="34" charset="0"/>
              </a:rPr>
              <a:t>Employee lifecycle</a:t>
            </a:r>
          </a:p>
          <a:p>
            <a:pPr marL="171450" indent="-1714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BSc→L7, MSc→L6, PhD→L5 auto-assignment</a:t>
            </a:r>
            <a:endParaRPr lang="en-US" sz="1000" dirty="0"/>
          </a:p>
          <a:p>
            <a:pPr marL="171450" indent="-1714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Search, filter, paginated list </a:t>
            </a:r>
          </a:p>
          <a:p>
            <a:pPr marL="171450" indent="-1714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Profile with live promotion race status</a:t>
            </a:r>
            <a:endParaRPr lang="en-US" sz="1000" dirty="0"/>
          </a:p>
        </p:txBody>
      </p:sp>
      <p:pic>
        <p:nvPicPr>
          <p:cNvPr id="9" name="Image 2" descr="/home/claude/deck/assets/org_hierarch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1188720"/>
            <a:ext cx="4206240" cy="2368296"/>
          </a:xfrm>
          <a:prstGeom prst="rect">
            <a:avLst/>
          </a:prstGeom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10" name="Text 5"/>
          <p:cNvSpPr/>
          <p:nvPr/>
        </p:nvSpPr>
        <p:spPr>
          <a:xfrm>
            <a:off x="4663440" y="365760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IN" sz="1000" dirty="0">
                <a:solidFill>
                  <a:srgbClr val="1F2937"/>
                </a:solidFill>
                <a:latin typeface="Montserrat" pitchFamily="34" charset="0"/>
              </a:rPr>
              <a:t>Unlimited hierarchy depth</a:t>
            </a:r>
          </a:p>
          <a:p>
            <a:pPr marL="171450" indent="-1714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Head assignment</a:t>
            </a:r>
            <a:endParaRPr lang="en-US" sz="1000" dirty="0"/>
          </a:p>
          <a:p>
            <a:pPr marL="171450" indent="-1714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Inline add/edit/delete + dependency checks</a:t>
            </a:r>
            <a:endParaRPr lang="en-US" sz="1000" dirty="0"/>
          </a:p>
          <a:p>
            <a:pPr marL="171450" indent="-171450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OTHERS branch for misc employees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8A4AE9-FA0E-425D-7737-E38F3690F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C52CD33-98F8-2E18-038D-0EEAC6C49326}"/>
              </a:ext>
            </a:extLst>
          </p:cNvPr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8A2332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869D631-1C37-C6C0-6BD5-E887B0F9C21F}"/>
              </a:ext>
            </a:extLst>
          </p:cNvPr>
          <p:cNvSpPr/>
          <p:nvPr/>
        </p:nvSpPr>
        <p:spPr>
          <a:xfrm>
            <a:off x="457200" y="45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tabLst>
                <a:tab pos="571500" algn="l"/>
                <a:tab pos="742950" algn="l"/>
              </a:tabLst>
            </a:pPr>
            <a:r>
              <a:rPr lang="en-US" sz="9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MyHr - Employee Management System</a:t>
            </a:r>
            <a:endParaRPr lang="en-US" sz="9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F5AAF44-B5FC-B85B-E98B-012FF6C4348A}"/>
              </a:ext>
            </a:extLst>
          </p:cNvPr>
          <p:cNvSpPr/>
          <p:nvPr/>
        </p:nvSpPr>
        <p:spPr>
          <a:xfrm>
            <a:off x="5943600" y="45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M. I. SHOEB  |  SPRING 2026</a:t>
            </a:r>
            <a:endParaRPr lang="en-US" sz="900" dirty="0"/>
          </a:p>
        </p:txBody>
      </p:sp>
      <p:pic>
        <p:nvPicPr>
          <p:cNvPr id="5" name="Image 0" descr="/home/claude/deck/assets/bme_color.png">
            <a:extLst>
              <a:ext uri="{FF2B5EF4-FFF2-40B4-BE49-F238E27FC236}">
                <a16:creationId xmlns:a16="http://schemas.microsoft.com/office/drawing/2014/main" id="{9E1CA7B7-523D-4E46-9BD1-C1D5B222EA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4663440"/>
            <a:ext cx="1371600" cy="457200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66E1DEAA-5E26-EF70-2168-71125A79850F}"/>
              </a:ext>
            </a:extLst>
          </p:cNvPr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8626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PROMOTION RACE ENGINE</a:t>
            </a:r>
            <a:endParaRPr lang="en-US" sz="2400" dirty="0">
              <a:solidFill>
                <a:srgbClr val="862633"/>
              </a:solidFill>
            </a:endParaRP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176CF3FE-C1FD-B3C0-817D-6ED847068EED}"/>
              </a:ext>
            </a:extLst>
          </p:cNvPr>
          <p:cNvSpPr/>
          <p:nvPr/>
        </p:nvSpPr>
        <p:spPr>
          <a:xfrm>
            <a:off x="6934200" y="1555702"/>
            <a:ext cx="2089150" cy="17189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  <a:buSzPct val="100000"/>
            </a:pPr>
            <a:r>
              <a:rPr lang="en-US" sz="1000" b="1" dirty="0">
                <a:solidFill>
                  <a:srgbClr val="862633"/>
                </a:solidFill>
                <a:latin typeface="Montserrat" pitchFamily="34" charset="0"/>
              </a:rPr>
              <a:t>1.  Current Progress</a:t>
            </a:r>
          </a:p>
          <a:p>
            <a:pPr>
              <a:buSzPct val="100000"/>
            </a:pPr>
            <a:r>
              <a:rPr lang="en-US" sz="900" dirty="0">
                <a:solidFill>
                  <a:srgbClr val="1F2937"/>
                </a:solidFill>
                <a:latin typeface="Montserrat" pitchFamily="34" charset="0"/>
              </a:rPr>
              <a:t>Track Promotion status between levels</a:t>
            </a:r>
          </a:p>
          <a:p>
            <a:pPr marL="285750" indent="-285750">
              <a:buSzPct val="100000"/>
              <a:buFont typeface="+mj-lt"/>
              <a:buAutoNum type="arabicPeriod"/>
            </a:pPr>
            <a:endParaRPr lang="en-US" sz="1000" dirty="0">
              <a:solidFill>
                <a:srgbClr val="862633"/>
              </a:solidFill>
              <a:latin typeface="Montserrat" pitchFamily="34" charset="0"/>
            </a:endParaRPr>
          </a:p>
          <a:p>
            <a:pPr>
              <a:lnSpc>
                <a:spcPct val="150000"/>
              </a:lnSpc>
              <a:buSzPct val="100000"/>
            </a:pPr>
            <a:r>
              <a:rPr lang="en-US" sz="1000" b="1" dirty="0">
                <a:solidFill>
                  <a:srgbClr val="862633"/>
                </a:solidFill>
                <a:latin typeface="Montserrat" pitchFamily="34" charset="0"/>
              </a:rPr>
              <a:t>2.  Real Time Calculation</a:t>
            </a:r>
          </a:p>
          <a:p>
            <a:pPr>
              <a:buSzPct val="100000"/>
            </a:pPr>
            <a:r>
              <a:rPr lang="en-US" sz="900" dirty="0">
                <a:solidFill>
                  <a:srgbClr val="1F2937"/>
                </a:solidFill>
                <a:latin typeface="Montserrat" pitchFamily="34" charset="0"/>
              </a:rPr>
              <a:t>Computed dynamically from records</a:t>
            </a:r>
          </a:p>
          <a:p>
            <a:pPr marL="285750" indent="-285750">
              <a:buSzPct val="100000"/>
              <a:buFont typeface="+mj-lt"/>
              <a:buAutoNum type="arabicPeriod"/>
            </a:pPr>
            <a:endParaRPr lang="en-US" sz="1000" dirty="0">
              <a:solidFill>
                <a:srgbClr val="1F2937"/>
              </a:solidFill>
              <a:latin typeface="Montserrat" pitchFamily="34" charset="0"/>
            </a:endParaRPr>
          </a:p>
          <a:p>
            <a:pPr>
              <a:lnSpc>
                <a:spcPct val="150000"/>
              </a:lnSpc>
              <a:buSzPct val="100000"/>
            </a:pPr>
            <a:r>
              <a:rPr lang="en-US" sz="1000" b="1" dirty="0">
                <a:solidFill>
                  <a:srgbClr val="862633"/>
                </a:solidFill>
                <a:latin typeface="Montserrat" pitchFamily="34" charset="0"/>
              </a:rPr>
              <a:t>3.  Sub-Race Milestones</a:t>
            </a:r>
          </a:p>
          <a:p>
            <a:pPr>
              <a:buSzPct val="100000"/>
            </a:pPr>
            <a:r>
              <a:rPr lang="en-US" sz="900" dirty="0">
                <a:solidFill>
                  <a:srgbClr val="1F2937"/>
                </a:solidFill>
                <a:latin typeface="Montserrat" pitchFamily="34" charset="0"/>
              </a:rPr>
              <a:t>Annual progression checkpoints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67FF3AB-1D9B-C365-6BD8-4A06FAF53E25}"/>
              </a:ext>
            </a:extLst>
          </p:cNvPr>
          <p:cNvGrpSpPr/>
          <p:nvPr/>
        </p:nvGrpSpPr>
        <p:grpSpPr>
          <a:xfrm>
            <a:off x="457200" y="1345200"/>
            <a:ext cx="6378551" cy="2152650"/>
            <a:chOff x="457200" y="1345200"/>
            <a:chExt cx="6378551" cy="2152650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6AC603D-A2E1-C666-DAF7-92D67F75C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3435" b="36544"/>
            <a:stretch>
              <a:fillRect/>
            </a:stretch>
          </p:blipFill>
          <p:spPr>
            <a:xfrm>
              <a:off x="457200" y="1345200"/>
              <a:ext cx="6378551" cy="2152650"/>
            </a:xfrm>
            <a:prstGeom prst="rect">
              <a:avLst/>
            </a:prstGeom>
            <a:effectLst>
              <a:outerShdw blurRad="76200" dist="38100" dir="8100000" algn="tr" rotWithShape="0">
                <a:prstClr val="black">
                  <a:alpha val="12000"/>
                </a:prstClr>
              </a:outerShdw>
            </a:effectLst>
          </p:spPr>
        </p:pic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6A50B4F-578B-B76E-C5F6-E585D7CA0C9F}"/>
                </a:ext>
              </a:extLst>
            </p:cNvPr>
            <p:cNvSpPr/>
            <p:nvPr/>
          </p:nvSpPr>
          <p:spPr>
            <a:xfrm>
              <a:off x="2107905" y="2174113"/>
              <a:ext cx="146050" cy="1397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b="1" dirty="0">
                  <a:latin typeface="Montserrat Light" panose="00000400000000000000" pitchFamily="2" charset="0"/>
                </a:rPr>
                <a:t>1</a:t>
              </a:r>
              <a:endParaRPr lang="en-IN" sz="900" b="1" dirty="0">
                <a:latin typeface="Montserrat Light" panose="00000400000000000000" pitchFamily="2" charset="0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F1FAEC8-4097-6F94-04D2-369DF5C308F6}"/>
                </a:ext>
              </a:extLst>
            </p:cNvPr>
            <p:cNvSpPr/>
            <p:nvPr/>
          </p:nvSpPr>
          <p:spPr>
            <a:xfrm>
              <a:off x="4366713" y="2501900"/>
              <a:ext cx="146050" cy="1397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b="1" dirty="0">
                  <a:latin typeface="Montserrat Light" panose="00000400000000000000" pitchFamily="2" charset="0"/>
                </a:rPr>
                <a:t>2</a:t>
              </a:r>
              <a:endParaRPr lang="en-IN" sz="900" b="1" dirty="0">
                <a:latin typeface="Montserrat Light" panose="00000400000000000000" pitchFamily="2" charset="0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FE52A39-B88C-7521-E6E3-40B4B98CF8E0}"/>
                </a:ext>
              </a:extLst>
            </p:cNvPr>
            <p:cNvSpPr/>
            <p:nvPr/>
          </p:nvSpPr>
          <p:spPr>
            <a:xfrm>
              <a:off x="1788438" y="2732200"/>
              <a:ext cx="146050" cy="13970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b="1" dirty="0">
                  <a:latin typeface="Montserrat Light" panose="00000400000000000000" pitchFamily="2" charset="0"/>
                </a:rPr>
                <a:t>3</a:t>
              </a:r>
              <a:endParaRPr lang="en-IN" sz="900" b="1" dirty="0">
                <a:latin typeface="Montserrat Light" panose="00000400000000000000" pitchFamily="2" charset="0"/>
              </a:endParaRPr>
            </a:p>
          </p:txBody>
        </p:sp>
      </p:grp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E2853D9-51DF-94E6-86DD-5E2F76B50F5B}"/>
              </a:ext>
            </a:extLst>
          </p:cNvPr>
          <p:cNvSpPr/>
          <p:nvPr/>
        </p:nvSpPr>
        <p:spPr>
          <a:xfrm>
            <a:off x="1309857" y="4378951"/>
            <a:ext cx="6615725" cy="284490"/>
          </a:xfrm>
          <a:prstGeom prst="roundRect">
            <a:avLst/>
          </a:prstGeom>
          <a:solidFill>
            <a:srgbClr val="862633"/>
          </a:solidFill>
          <a:ln>
            <a:solidFill>
              <a:srgbClr val="8626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i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Clock resets after each promotion · Sub-race milestones (L7.1, L7.2) for annual tracking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441E56FB-B059-7C12-393E-773235C0CA75}"/>
              </a:ext>
            </a:extLst>
          </p:cNvPr>
          <p:cNvSpPr/>
          <p:nvPr/>
        </p:nvSpPr>
        <p:spPr>
          <a:xfrm>
            <a:off x="457200" y="391594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626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L7     →     L6     →     L5     →     L4     →     L3     →     L2     →     L1</a:t>
            </a:r>
            <a:endParaRPr lang="en-US" sz="1400" dirty="0">
              <a:solidFill>
                <a:srgbClr val="862633"/>
              </a:solidFill>
            </a:endParaRPr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ED1BE26A-ECA5-7F22-37A0-3C75EEF4E4DA}"/>
              </a:ext>
            </a:extLst>
          </p:cNvPr>
          <p:cNvSpPr/>
          <p:nvPr/>
        </p:nvSpPr>
        <p:spPr>
          <a:xfrm>
            <a:off x="2041743" y="4128960"/>
            <a:ext cx="54112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         36mo                 48mo                 60mo                60mo                  72mo                84mo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62077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8A23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tabLst>
                <a:tab pos="571500" algn="l"/>
                <a:tab pos="742950" algn="l"/>
              </a:tabLst>
            </a:pPr>
            <a:r>
              <a:rPr lang="en-US" sz="9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MyHr - Employee Management System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0" y="45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M. I. SHOEB  |  SPRING 2026</a:t>
            </a:r>
            <a:endParaRPr lang="en-US" sz="900" dirty="0"/>
          </a:p>
        </p:txBody>
      </p:sp>
      <p:pic>
        <p:nvPicPr>
          <p:cNvPr id="5" name="Image 0" descr="/home/claude/deck/assets/bme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4663440"/>
            <a:ext cx="1371600" cy="457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502920"/>
            <a:ext cx="4206240" cy="457200"/>
          </a:xfrm>
          <a:prstGeom prst="rect">
            <a:avLst/>
          </a:prstGeom>
          <a:solidFill>
            <a:srgbClr val="225430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7" name="Text 4"/>
          <p:cNvSpPr/>
          <p:nvPr/>
        </p:nvSpPr>
        <p:spPr>
          <a:xfrm>
            <a:off x="274320" y="5029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COMMENDATIONS</a:t>
            </a:r>
            <a:endParaRPr lang="en-US" sz="1800" dirty="0"/>
          </a:p>
        </p:txBody>
      </p:sp>
      <p:pic>
        <p:nvPicPr>
          <p:cNvPr id="8" name="Image 1" descr="/home/claude/deck/assets/commend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1051560"/>
            <a:ext cx="4206240" cy="2368296"/>
          </a:xfrm>
          <a:prstGeom prst="rect">
            <a:avLst/>
          </a:prstGeom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10" name="Shape 6"/>
          <p:cNvSpPr/>
          <p:nvPr/>
        </p:nvSpPr>
        <p:spPr>
          <a:xfrm>
            <a:off x="4663440" y="502920"/>
            <a:ext cx="4206240" cy="45720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1" name="Text 7"/>
          <p:cNvSpPr/>
          <p:nvPr/>
        </p:nvSpPr>
        <p:spPr>
          <a:xfrm>
            <a:off x="4663440" y="5029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 spc="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SANCTIONS</a:t>
            </a:r>
            <a:endParaRPr lang="en-US" sz="1800" dirty="0"/>
          </a:p>
        </p:txBody>
      </p:sp>
      <p:pic>
        <p:nvPicPr>
          <p:cNvPr id="12" name="Image 2" descr="/home/claude/deck/assets/sancti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1051560"/>
            <a:ext cx="4206240" cy="2368296"/>
          </a:xfrm>
          <a:prstGeom prst="rect">
            <a:avLst/>
          </a:prstGeom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14" name="Shape 4">
            <a:extLst>
              <a:ext uri="{FF2B5EF4-FFF2-40B4-BE49-F238E27FC236}">
                <a16:creationId xmlns:a16="http://schemas.microsoft.com/office/drawing/2014/main" id="{273CE31B-8DCF-A507-8414-39B909F53B2D}"/>
              </a:ext>
            </a:extLst>
          </p:cNvPr>
          <p:cNvSpPr/>
          <p:nvPr/>
        </p:nvSpPr>
        <p:spPr>
          <a:xfrm>
            <a:off x="274320" y="3851753"/>
            <a:ext cx="36576" cy="457200"/>
          </a:xfrm>
          <a:prstGeom prst="rect">
            <a:avLst/>
          </a:prstGeom>
          <a:solidFill>
            <a:srgbClr val="2E6F40"/>
          </a:solidFill>
          <a:ln/>
        </p:spPr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7C3A1313-6E3C-A166-2237-D815C0ECD1CD}"/>
              </a:ext>
            </a:extLst>
          </p:cNvPr>
          <p:cNvSpPr/>
          <p:nvPr/>
        </p:nvSpPr>
        <p:spPr>
          <a:xfrm>
            <a:off x="502920" y="3851753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Accelerate promotion race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categories · Max 3 per role · Bulk team awards</a:t>
            </a:r>
            <a:endParaRPr lang="en-US" sz="1200" dirty="0"/>
          </a:p>
        </p:txBody>
      </p:sp>
      <p:sp>
        <p:nvSpPr>
          <p:cNvPr id="16" name="Shape 6">
            <a:extLst>
              <a:ext uri="{FF2B5EF4-FFF2-40B4-BE49-F238E27FC236}">
                <a16:creationId xmlns:a16="http://schemas.microsoft.com/office/drawing/2014/main" id="{1D246DD4-6C6B-C231-74B6-968FBB8A390B}"/>
              </a:ext>
            </a:extLst>
          </p:cNvPr>
          <p:cNvSpPr/>
          <p:nvPr/>
        </p:nvSpPr>
        <p:spPr>
          <a:xfrm>
            <a:off x="4663440" y="3851753"/>
            <a:ext cx="36576" cy="45720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A91A2D16-E7AF-AE82-5D7B-07B19DBA2CB1}"/>
              </a:ext>
            </a:extLst>
          </p:cNvPr>
          <p:cNvSpPr/>
          <p:nvPr/>
        </p:nvSpPr>
        <p:spPr>
          <a:xfrm>
            <a:off x="4892040" y="3851753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Delay promotion race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+1 to +12 months · Active/resolved tracking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8A23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tabLst>
                <a:tab pos="571500" algn="l"/>
                <a:tab pos="742950" algn="l"/>
              </a:tabLst>
            </a:pPr>
            <a:r>
              <a:rPr lang="en-US" sz="9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MyHr - Employee Management System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0" y="45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M. I. SHOEB  |  SPRING 2026</a:t>
            </a:r>
            <a:endParaRPr lang="en-US" sz="900" dirty="0"/>
          </a:p>
        </p:txBody>
      </p:sp>
      <p:pic>
        <p:nvPicPr>
          <p:cNvPr id="5" name="Image 0" descr="/home/claude/deck/assets/bme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4663440"/>
            <a:ext cx="13716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569423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8626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ADMINISTRATION FEATURES</a:t>
            </a:r>
            <a:endParaRPr lang="en-US" sz="2400" dirty="0">
              <a:solidFill>
                <a:srgbClr val="862633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904FB74-45CF-0487-FE38-68262AB81B8A}"/>
              </a:ext>
            </a:extLst>
          </p:cNvPr>
          <p:cNvGrpSpPr/>
          <p:nvPr/>
        </p:nvGrpSpPr>
        <p:grpSpPr>
          <a:xfrm>
            <a:off x="320040" y="1463666"/>
            <a:ext cx="8458200" cy="2696227"/>
            <a:chOff x="320040" y="1143000"/>
            <a:chExt cx="8458200" cy="2696227"/>
          </a:xfrm>
        </p:grpSpPr>
        <p:sp>
          <p:nvSpPr>
            <p:cNvPr id="7" name="Shape 4"/>
            <p:cNvSpPr/>
            <p:nvPr/>
          </p:nvSpPr>
          <p:spPr>
            <a:xfrm>
              <a:off x="320040" y="1143000"/>
              <a:ext cx="2697480" cy="2696227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762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8" name="Shape 5"/>
            <p:cNvSpPr/>
            <p:nvPr/>
          </p:nvSpPr>
          <p:spPr>
            <a:xfrm>
              <a:off x="320040" y="1143000"/>
              <a:ext cx="2697480" cy="502920"/>
            </a:xfrm>
            <a:prstGeom prst="rect">
              <a:avLst/>
            </a:prstGeom>
            <a:solidFill>
              <a:srgbClr val="8A2332"/>
            </a:solidFill>
            <a:ln/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9" name="Text 6"/>
            <p:cNvSpPr/>
            <p:nvPr/>
          </p:nvSpPr>
          <p:spPr>
            <a:xfrm>
              <a:off x="457200" y="1188720"/>
              <a:ext cx="242316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kern="0" spc="100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IMMUTABLE AUDIT LOG</a:t>
              </a:r>
              <a:endParaRPr lang="en-US" sz="1100" dirty="0"/>
            </a:p>
          </p:txBody>
        </p:sp>
        <p:sp>
          <p:nvSpPr>
            <p:cNvPr id="10" name="Text 7"/>
            <p:cNvSpPr/>
            <p:nvPr/>
          </p:nvSpPr>
          <p:spPr>
            <a:xfrm>
              <a:off x="502920" y="1828800"/>
              <a:ext cx="2331720" cy="166878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>
                <a:lnSpc>
                  <a:spcPct val="150000"/>
                </a:lnSpc>
                <a:spcAft>
                  <a:spcPts val="400"/>
                </a:spcAft>
                <a:buSzPct val="100000"/>
                <a:buFont typeface="Arial" panose="020B0604020202020204" pitchFamily="34" charset="0"/>
                <a:buChar char="•"/>
              </a:pPr>
              <a:r>
                <a:rPr lang="en-US" sz="1100" dirty="0">
                  <a:solidFill>
                    <a:srgbClr val="1F2937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Every action recorded</a:t>
              </a:r>
              <a:endParaRPr lang="en-US" sz="1100" dirty="0"/>
            </a:p>
            <a:p>
              <a:pPr marL="171450" indent="-171450">
                <a:lnSpc>
                  <a:spcPct val="150000"/>
                </a:lnSpc>
                <a:spcAft>
                  <a:spcPts val="400"/>
                </a:spcAft>
                <a:buSzPct val="100000"/>
                <a:buFont typeface="Arial" panose="020B0604020202020204" pitchFamily="34" charset="0"/>
                <a:buChar char="•"/>
              </a:pPr>
              <a:r>
                <a:rPr lang="en-US" sz="1100" dirty="0">
                  <a:solidFill>
                    <a:srgbClr val="1F2937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Username snapshot</a:t>
              </a:r>
              <a:endParaRPr lang="en-US" sz="1100" dirty="0"/>
            </a:p>
            <a:p>
              <a:pPr marL="171450" indent="-171450">
                <a:lnSpc>
                  <a:spcPct val="150000"/>
                </a:lnSpc>
                <a:spcAft>
                  <a:spcPts val="400"/>
                </a:spcAft>
                <a:buSzPct val="100000"/>
                <a:buFont typeface="Arial" panose="020B0604020202020204" pitchFamily="34" charset="0"/>
                <a:buChar char="•"/>
              </a:pPr>
              <a:r>
                <a:rPr lang="en-US" sz="1100" dirty="0">
                  <a:solidFill>
                    <a:srgbClr val="1F2937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Searchable &amp; filterable history</a:t>
              </a:r>
              <a:endParaRPr lang="en-US" sz="1100" dirty="0"/>
            </a:p>
          </p:txBody>
        </p:sp>
        <p:sp>
          <p:nvSpPr>
            <p:cNvPr id="11" name="Shape 8"/>
            <p:cNvSpPr/>
            <p:nvPr/>
          </p:nvSpPr>
          <p:spPr>
            <a:xfrm>
              <a:off x="3200400" y="1143000"/>
              <a:ext cx="2697480" cy="2696227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762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2" name="Shape 9"/>
            <p:cNvSpPr/>
            <p:nvPr/>
          </p:nvSpPr>
          <p:spPr>
            <a:xfrm>
              <a:off x="3200400" y="1143000"/>
              <a:ext cx="2697480" cy="502920"/>
            </a:xfrm>
            <a:prstGeom prst="rect">
              <a:avLst/>
            </a:prstGeom>
            <a:solidFill>
              <a:srgbClr val="862633"/>
            </a:solidFill>
            <a:ln/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3" name="Text 10"/>
            <p:cNvSpPr/>
            <p:nvPr/>
          </p:nvSpPr>
          <p:spPr>
            <a:xfrm>
              <a:off x="3337560" y="1188720"/>
              <a:ext cx="242316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kern="0" spc="100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USER MANAGEMENT</a:t>
              </a:r>
              <a:endParaRPr lang="en-US" sz="1100" dirty="0"/>
            </a:p>
          </p:txBody>
        </p:sp>
        <p:sp>
          <p:nvSpPr>
            <p:cNvPr id="14" name="Text 11"/>
            <p:cNvSpPr/>
            <p:nvPr/>
          </p:nvSpPr>
          <p:spPr>
            <a:xfrm>
              <a:off x="3383280" y="1828800"/>
              <a:ext cx="2331720" cy="166878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>
                <a:lnSpc>
                  <a:spcPct val="150000"/>
                </a:lnSpc>
                <a:spcAft>
                  <a:spcPts val="400"/>
                </a:spcAft>
                <a:buSzPct val="100000"/>
                <a:buFont typeface="Arial" panose="020B0604020202020204" pitchFamily="34" charset="0"/>
                <a:buChar char="•"/>
              </a:pPr>
              <a:r>
                <a:rPr lang="en-IN" sz="1100" dirty="0">
                  <a:solidFill>
                    <a:srgbClr val="1F2937"/>
                  </a:solidFill>
                  <a:latin typeface="Montserrat" pitchFamily="34" charset="0"/>
                </a:rPr>
                <a:t>Role-based accounts</a:t>
              </a:r>
            </a:p>
            <a:p>
              <a:pPr marL="171450" indent="-171450">
                <a:lnSpc>
                  <a:spcPct val="150000"/>
                </a:lnSpc>
                <a:spcAft>
                  <a:spcPts val="400"/>
                </a:spcAft>
                <a:buSzPct val="100000"/>
                <a:buFont typeface="Arial" panose="020B0604020202020204" pitchFamily="34" charset="0"/>
                <a:buChar char="•"/>
              </a:pPr>
              <a:r>
                <a:rPr lang="en-IN" sz="1100" dirty="0">
                  <a:solidFill>
                    <a:srgbClr val="1F2937"/>
                  </a:solidFill>
                  <a:latin typeface="Montserrat" pitchFamily="34" charset="0"/>
                </a:rPr>
                <a:t>Soft deletion</a:t>
              </a:r>
            </a:p>
            <a:p>
              <a:pPr marL="171450" indent="-171450">
                <a:lnSpc>
                  <a:spcPct val="150000"/>
                </a:lnSpc>
                <a:spcAft>
                  <a:spcPts val="400"/>
                </a:spcAft>
                <a:buSzPct val="100000"/>
                <a:buFont typeface="Arial" panose="020B0604020202020204" pitchFamily="34" charset="0"/>
                <a:buChar char="•"/>
              </a:pPr>
              <a:r>
                <a:rPr lang="en-IN" sz="1100" dirty="0">
                  <a:solidFill>
                    <a:srgbClr val="1F2937"/>
                  </a:solidFill>
                  <a:latin typeface="Montserrat" pitchFamily="34" charset="0"/>
                </a:rPr>
                <a:t>Admin handover</a:t>
              </a:r>
              <a:endParaRPr lang="en-US" sz="1100" dirty="0">
                <a:solidFill>
                  <a:srgbClr val="1F2937"/>
                </a:solidFill>
                <a:latin typeface="Montserrat" pitchFamily="34" charset="0"/>
              </a:endParaRPr>
            </a:p>
            <a:p>
              <a:pPr marL="171450" indent="-171450">
                <a:lnSpc>
                  <a:spcPct val="150000"/>
                </a:lnSpc>
                <a:spcAft>
                  <a:spcPts val="400"/>
                </a:spcAft>
                <a:buSzPct val="100000"/>
                <a:buFont typeface="Arial" panose="020B0604020202020204" pitchFamily="34" charset="0"/>
                <a:buChar char="•"/>
              </a:pPr>
              <a:r>
                <a:rPr lang="en-US" sz="1100" dirty="0">
                  <a:solidFill>
                    <a:srgbClr val="1F2937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Past logs keep old username</a:t>
              </a:r>
              <a:endParaRPr lang="en-US" sz="1100" dirty="0"/>
            </a:p>
          </p:txBody>
        </p:sp>
        <p:sp>
          <p:nvSpPr>
            <p:cNvPr id="15" name="Shape 12"/>
            <p:cNvSpPr/>
            <p:nvPr/>
          </p:nvSpPr>
          <p:spPr>
            <a:xfrm>
              <a:off x="6080760" y="1143000"/>
              <a:ext cx="2697480" cy="2696227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76200" dist="38100" dir="8100000" algn="bl" rotWithShape="0">
                <a:srgbClr val="000000">
                  <a:alpha val="12000"/>
                </a:srgbClr>
              </a:outerShdw>
            </a:effectLst>
          </p:spPr>
        </p:sp>
        <p:sp>
          <p:nvSpPr>
            <p:cNvPr id="16" name="Shape 13"/>
            <p:cNvSpPr/>
            <p:nvPr/>
          </p:nvSpPr>
          <p:spPr>
            <a:xfrm>
              <a:off x="6080760" y="1143000"/>
              <a:ext cx="2697480" cy="502920"/>
            </a:xfrm>
            <a:prstGeom prst="rect">
              <a:avLst/>
            </a:prstGeom>
            <a:solidFill>
              <a:srgbClr val="862633"/>
            </a:solidFill>
            <a:ln/>
          </p:spPr>
        </p:sp>
        <p:sp>
          <p:nvSpPr>
            <p:cNvPr id="17" name="Text 14"/>
            <p:cNvSpPr/>
            <p:nvPr/>
          </p:nvSpPr>
          <p:spPr>
            <a:xfrm>
              <a:off x="6080760" y="1188720"/>
              <a:ext cx="26974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kern="0" spc="100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MULTI-LANGUAGES SUPPORT</a:t>
              </a:r>
              <a:endParaRPr lang="en-US" sz="1100" dirty="0"/>
            </a:p>
          </p:txBody>
        </p:sp>
        <p:sp>
          <p:nvSpPr>
            <p:cNvPr id="18" name="Text 15"/>
            <p:cNvSpPr/>
            <p:nvPr/>
          </p:nvSpPr>
          <p:spPr>
            <a:xfrm>
              <a:off x="6263640" y="1828800"/>
              <a:ext cx="2331720" cy="166878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171450" indent="-171450">
                <a:lnSpc>
                  <a:spcPct val="150000"/>
                </a:lnSpc>
                <a:spcAft>
                  <a:spcPts val="400"/>
                </a:spcAft>
                <a:buSzPct val="100000"/>
                <a:buFont typeface="Arial" panose="020B0604020202020204" pitchFamily="34" charset="0"/>
                <a:buChar char="•"/>
              </a:pPr>
              <a:r>
                <a:rPr lang="en-US" sz="1100" dirty="0">
                  <a:solidFill>
                    <a:srgbClr val="1F2937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English, Hungarian, Arabic</a:t>
              </a:r>
              <a:endParaRPr lang="en-US" sz="1100" dirty="0"/>
            </a:p>
            <a:p>
              <a:pPr marL="171450" indent="-171450">
                <a:lnSpc>
                  <a:spcPct val="150000"/>
                </a:lnSpc>
                <a:spcAft>
                  <a:spcPts val="400"/>
                </a:spcAft>
                <a:buSzPct val="100000"/>
                <a:buFont typeface="Arial" panose="020B0604020202020204" pitchFamily="34" charset="0"/>
                <a:buChar char="•"/>
              </a:pPr>
              <a:r>
                <a:rPr lang="en-US" sz="1100" dirty="0">
                  <a:solidFill>
                    <a:srgbClr val="1F2937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RTL layout for Arabic via Qt</a:t>
              </a:r>
              <a:endParaRPr lang="en-US" sz="1100" dirty="0"/>
            </a:p>
            <a:p>
              <a:pPr marL="171450" indent="-171450">
                <a:lnSpc>
                  <a:spcPct val="150000"/>
                </a:lnSpc>
                <a:spcAft>
                  <a:spcPts val="400"/>
                </a:spcAft>
                <a:buSzPct val="100000"/>
                <a:buFont typeface="Arial" panose="020B0604020202020204" pitchFamily="34" charset="0"/>
                <a:buChar char="•"/>
              </a:pPr>
              <a:r>
                <a:rPr lang="en-US" sz="1100" dirty="0">
                  <a:solidFill>
                    <a:srgbClr val="1F2937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Per-session, resets on logout</a:t>
              </a:r>
              <a:endParaRPr lang="en-US" sz="1100" dirty="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8A233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tabLst>
                <a:tab pos="571500" algn="l"/>
                <a:tab pos="742950" algn="l"/>
              </a:tabLst>
            </a:pPr>
            <a:r>
              <a:rPr lang="en-US" sz="9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MyHr - Employee Management System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0" y="45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M. I. SHOEB  |  SPRING 2026</a:t>
            </a:r>
            <a:endParaRPr lang="en-US" sz="900" dirty="0"/>
          </a:p>
        </p:txBody>
      </p:sp>
      <p:pic>
        <p:nvPicPr>
          <p:cNvPr id="5" name="Image 0" descr="/home/claude/deck/assets/bme_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4663440"/>
            <a:ext cx="13716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IN" sz="2400" b="1" dirty="0">
                <a:solidFill>
                  <a:srgbClr val="862633"/>
                </a:solidFill>
                <a:latin typeface="Montserrat" pitchFamily="34" charset="0"/>
              </a:rPr>
              <a:t>DATA MANAGEMENT</a:t>
            </a:r>
            <a:endParaRPr lang="en-US" sz="2400" b="1" dirty="0">
              <a:solidFill>
                <a:srgbClr val="862633"/>
              </a:solidFill>
              <a:latin typeface="Montserrat" pitchFamily="34" charset="0"/>
            </a:endParaRPr>
          </a:p>
        </p:txBody>
      </p:sp>
      <p:pic>
        <p:nvPicPr>
          <p:cNvPr id="7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7200" y="1078992"/>
            <a:ext cx="3765665" cy="2457800"/>
          </a:xfrm>
          <a:prstGeom prst="rect">
            <a:avLst/>
          </a:prstGeom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10" name="Text 5"/>
          <p:cNvSpPr/>
          <p:nvPr/>
        </p:nvSpPr>
        <p:spPr>
          <a:xfrm>
            <a:off x="4507546" y="3685032"/>
            <a:ext cx="4206240" cy="11487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Export &amp; Backup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Employee CSV export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Local database backup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Reporting and migration support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1B3AFF5-902C-9FF9-C68B-AE8D55E47A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7546" y="1078992"/>
            <a:ext cx="4280878" cy="2457800"/>
          </a:xfrm>
          <a:prstGeom prst="rect">
            <a:avLst/>
          </a:prstGeom>
          <a:effectLst>
            <a:outerShdw blurRad="76200" dist="38100" dir="8100000" algn="ctr" rotWithShape="0">
              <a:srgbClr val="000000">
                <a:alpha val="12000"/>
              </a:srgbClr>
            </a:outerShdw>
          </a:effectLst>
        </p:spPr>
      </p:pic>
      <p:sp>
        <p:nvSpPr>
          <p:cNvPr id="20" name="Text 5">
            <a:extLst>
              <a:ext uri="{FF2B5EF4-FFF2-40B4-BE49-F238E27FC236}">
                <a16:creationId xmlns:a16="http://schemas.microsoft.com/office/drawing/2014/main" id="{DEC46DDF-0279-2D0B-B5E0-6916A26278D8}"/>
              </a:ext>
            </a:extLst>
          </p:cNvPr>
          <p:cNvSpPr/>
          <p:nvPr/>
        </p:nvSpPr>
        <p:spPr>
          <a:xfrm>
            <a:off x="457200" y="3723322"/>
            <a:ext cx="4206240" cy="1072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Import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</a:rPr>
              <a:t>CSV / XLSX employee import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</a:rPr>
              <a:t>Import Template-based formatting 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F2937"/>
                </a:solidFill>
                <a:latin typeface="Montserrat" pitchFamily="34" charset="0"/>
              </a:rPr>
              <a:t>Validation before saving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C988E7-1DDA-7BA6-D30B-08814B4F4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0C2AD7D-F6E3-EB25-7066-B345E138E008}"/>
              </a:ext>
            </a:extLst>
          </p:cNvPr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8A2332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3B6C6E5-385F-4E4C-5ECE-9413837141A3}"/>
              </a:ext>
            </a:extLst>
          </p:cNvPr>
          <p:cNvSpPr/>
          <p:nvPr/>
        </p:nvSpPr>
        <p:spPr>
          <a:xfrm>
            <a:off x="457200" y="45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tabLst>
                <a:tab pos="571500" algn="l"/>
                <a:tab pos="742950" algn="l"/>
              </a:tabLst>
            </a:pPr>
            <a:r>
              <a:rPr lang="en-US" sz="9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MyHr - Employee Management System</a:t>
            </a:r>
            <a:endParaRPr lang="en-US" sz="9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868AC79-AFFA-39AA-520B-8D15B56B4575}"/>
              </a:ext>
            </a:extLst>
          </p:cNvPr>
          <p:cNvSpPr/>
          <p:nvPr/>
        </p:nvSpPr>
        <p:spPr>
          <a:xfrm>
            <a:off x="5943600" y="45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9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M. I. SHOEB  |  SPRING 2026</a:t>
            </a:r>
            <a:endParaRPr lang="en-US" sz="900" dirty="0"/>
          </a:p>
        </p:txBody>
      </p:sp>
      <p:pic>
        <p:nvPicPr>
          <p:cNvPr id="5" name="Image 0" descr="/home/claude/deck/assets/bme_color.png">
            <a:extLst>
              <a:ext uri="{FF2B5EF4-FFF2-40B4-BE49-F238E27FC236}">
                <a16:creationId xmlns:a16="http://schemas.microsoft.com/office/drawing/2014/main" id="{F568C411-A308-61DA-A91B-53FBEB326E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4663440"/>
            <a:ext cx="1371600" cy="457200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9D7630F6-E016-280E-ABAE-937E402967C7}"/>
              </a:ext>
            </a:extLst>
          </p:cNvPr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626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SEMESTER 1 - RESULTS</a:t>
            </a:r>
            <a:endParaRPr lang="en-US" sz="2400" dirty="0">
              <a:solidFill>
                <a:srgbClr val="862633"/>
              </a:solidFill>
            </a:endParaRPr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5CDB11C6-CBC8-8940-6D95-917178BA6035}"/>
              </a:ext>
            </a:extLst>
          </p:cNvPr>
          <p:cNvSpPr/>
          <p:nvPr/>
        </p:nvSpPr>
        <p:spPr>
          <a:xfrm>
            <a:off x="274320" y="1143000"/>
            <a:ext cx="1572768" cy="1097280"/>
          </a:xfrm>
          <a:prstGeom prst="rect">
            <a:avLst/>
          </a:prstGeom>
          <a:solidFill>
            <a:srgbClr val="8A2332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3AB3F96D-FC11-E807-B6DF-EF0F22959B24}"/>
              </a:ext>
            </a:extLst>
          </p:cNvPr>
          <p:cNvSpPr/>
          <p:nvPr/>
        </p:nvSpPr>
        <p:spPr>
          <a:xfrm>
            <a:off x="274320" y="1143000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D4F688D2-49F7-0315-3F05-F6088D2427D6}"/>
              </a:ext>
            </a:extLst>
          </p:cNvPr>
          <p:cNvSpPr/>
          <p:nvPr/>
        </p:nvSpPr>
        <p:spPr>
          <a:xfrm>
            <a:off x="274320" y="187452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</a:rPr>
              <a:t>Application</a:t>
            </a:r>
            <a:r>
              <a:rPr lang="en-US" sz="1000" dirty="0">
                <a:latin typeface="Montserrat" pitchFamily="34" charset="0"/>
              </a:rPr>
              <a:t> </a:t>
            </a:r>
            <a:r>
              <a:rPr lang="en-US" sz="1000" dirty="0">
                <a:solidFill>
                  <a:srgbClr val="FFFFFF"/>
                </a:solidFill>
                <a:latin typeface="Montserrat" pitchFamily="34" charset="0"/>
              </a:rPr>
              <a:t>Pages</a:t>
            </a: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E12F62A8-6518-3B1E-CFB3-84D51D939AE6}"/>
              </a:ext>
            </a:extLst>
          </p:cNvPr>
          <p:cNvSpPr/>
          <p:nvPr/>
        </p:nvSpPr>
        <p:spPr>
          <a:xfrm>
            <a:off x="2029968" y="1143000"/>
            <a:ext cx="1572768" cy="1097280"/>
          </a:xfrm>
          <a:prstGeom prst="rect">
            <a:avLst/>
          </a:prstGeom>
          <a:solidFill>
            <a:srgbClr val="862633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4243BB2B-7B55-B66F-7C76-ADF563C706A9}"/>
              </a:ext>
            </a:extLst>
          </p:cNvPr>
          <p:cNvSpPr/>
          <p:nvPr/>
        </p:nvSpPr>
        <p:spPr>
          <a:xfrm>
            <a:off x="2029968" y="1143000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11</a:t>
            </a:r>
            <a:endParaRPr lang="en-US" sz="32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F07B3CC-B75D-613F-F98E-E39678277CF9}"/>
              </a:ext>
            </a:extLst>
          </p:cNvPr>
          <p:cNvSpPr/>
          <p:nvPr/>
        </p:nvSpPr>
        <p:spPr>
          <a:xfrm>
            <a:off x="2029968" y="187452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DB Tables</a:t>
            </a:r>
            <a:endParaRPr lang="en-US" sz="100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CA93E868-B7AC-C2B0-562A-E5DBB4E92C54}"/>
              </a:ext>
            </a:extLst>
          </p:cNvPr>
          <p:cNvSpPr/>
          <p:nvPr/>
        </p:nvSpPr>
        <p:spPr>
          <a:xfrm>
            <a:off x="3785616" y="1143000"/>
            <a:ext cx="1572768" cy="1097280"/>
          </a:xfrm>
          <a:prstGeom prst="rect">
            <a:avLst/>
          </a:prstGeom>
          <a:solidFill>
            <a:srgbClr val="862633"/>
          </a:solidFill>
          <a:ln/>
        </p:spPr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A9BA0805-099D-6035-7E1B-9496278D64DA}"/>
              </a:ext>
            </a:extLst>
          </p:cNvPr>
          <p:cNvSpPr/>
          <p:nvPr/>
        </p:nvSpPr>
        <p:spPr>
          <a:xfrm>
            <a:off x="3785616" y="1143000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563</a:t>
            </a:r>
            <a:endParaRPr lang="en-US" sz="32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E3151CC0-AC4E-C718-C4C7-2F883D11D9B7}"/>
              </a:ext>
            </a:extLst>
          </p:cNvPr>
          <p:cNvSpPr/>
          <p:nvPr/>
        </p:nvSpPr>
        <p:spPr>
          <a:xfrm>
            <a:off x="3785616" y="187452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Translation Keys</a:t>
            </a:r>
            <a:endParaRPr lang="en-US" sz="1000" dirty="0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69286440-EC60-16C1-8D28-C6B1CDC869F5}"/>
              </a:ext>
            </a:extLst>
          </p:cNvPr>
          <p:cNvSpPr/>
          <p:nvPr/>
        </p:nvSpPr>
        <p:spPr>
          <a:xfrm>
            <a:off x="5541264" y="1143000"/>
            <a:ext cx="1572768" cy="1097280"/>
          </a:xfrm>
          <a:prstGeom prst="rect">
            <a:avLst/>
          </a:prstGeom>
          <a:solidFill>
            <a:srgbClr val="862633"/>
          </a:solidFill>
          <a:ln/>
        </p:spPr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4A1017B0-58F6-BECE-4475-25B9CB0E9307}"/>
              </a:ext>
            </a:extLst>
          </p:cNvPr>
          <p:cNvSpPr/>
          <p:nvPr/>
        </p:nvSpPr>
        <p:spPr>
          <a:xfrm>
            <a:off x="5541264" y="1143000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 </a:t>
            </a:r>
            <a:endParaRPr lang="en-US" sz="320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6DE77F61-D32B-D086-3188-F90DD532F508}"/>
              </a:ext>
            </a:extLst>
          </p:cNvPr>
          <p:cNvSpPr/>
          <p:nvPr/>
        </p:nvSpPr>
        <p:spPr>
          <a:xfrm>
            <a:off x="5541264" y="187452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Supported Languages</a:t>
            </a:r>
            <a:endParaRPr lang="en-US" sz="1000" dirty="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66AFACBE-5996-788B-07F6-6556365D1000}"/>
              </a:ext>
            </a:extLst>
          </p:cNvPr>
          <p:cNvSpPr/>
          <p:nvPr/>
        </p:nvSpPr>
        <p:spPr>
          <a:xfrm>
            <a:off x="7296912" y="1143000"/>
            <a:ext cx="1572768" cy="1097280"/>
          </a:xfrm>
          <a:prstGeom prst="rect">
            <a:avLst/>
          </a:prstGeom>
          <a:solidFill>
            <a:srgbClr val="862633"/>
          </a:solidFill>
          <a:ln/>
        </p:spPr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F8C1ACA0-F7FF-20ED-24C2-2E5E94B5405E}"/>
              </a:ext>
            </a:extLst>
          </p:cNvPr>
          <p:cNvSpPr/>
          <p:nvPr/>
        </p:nvSpPr>
        <p:spPr>
          <a:xfrm>
            <a:off x="7296912" y="1143000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</a:t>
            </a:r>
            <a:endParaRPr lang="en-US" sz="3200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A64432E8-BF72-5B0F-B153-B92D78B14D86}"/>
              </a:ext>
            </a:extLst>
          </p:cNvPr>
          <p:cNvSpPr/>
          <p:nvPr/>
        </p:nvSpPr>
        <p:spPr>
          <a:xfrm>
            <a:off x="7296912" y="1874520"/>
            <a:ext cx="1572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Promotion Levels</a:t>
            </a:r>
            <a:endParaRPr lang="en-US" sz="1000" dirty="0"/>
          </a:p>
        </p:txBody>
      </p:sp>
      <p:sp>
        <p:nvSpPr>
          <p:cNvPr id="24" name="Shape 20">
            <a:extLst>
              <a:ext uri="{FF2B5EF4-FFF2-40B4-BE49-F238E27FC236}">
                <a16:creationId xmlns:a16="http://schemas.microsoft.com/office/drawing/2014/main" id="{0BB7B94B-9588-3BED-881A-A6D23D8F9779}"/>
              </a:ext>
            </a:extLst>
          </p:cNvPr>
          <p:cNvSpPr/>
          <p:nvPr/>
        </p:nvSpPr>
        <p:spPr>
          <a:xfrm>
            <a:off x="548640" y="3013360"/>
            <a:ext cx="36576" cy="228600"/>
          </a:xfrm>
          <a:prstGeom prst="rect">
            <a:avLst/>
          </a:prstGeom>
          <a:solidFill>
            <a:srgbClr val="8A2332"/>
          </a:solidFill>
          <a:ln/>
        </p:spPr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26C5A3CE-0018-672C-FAD3-EA7326D0D690}"/>
              </a:ext>
            </a:extLst>
          </p:cNvPr>
          <p:cNvSpPr/>
          <p:nvPr/>
        </p:nvSpPr>
        <p:spPr>
          <a:xfrm>
            <a:off x="777240" y="2967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Employee CRUD</a:t>
            </a:r>
            <a:endParaRPr lang="en-US" sz="1200" dirty="0"/>
          </a:p>
        </p:txBody>
      </p:sp>
      <p:sp>
        <p:nvSpPr>
          <p:cNvPr id="26" name="Shape 22">
            <a:extLst>
              <a:ext uri="{FF2B5EF4-FFF2-40B4-BE49-F238E27FC236}">
                <a16:creationId xmlns:a16="http://schemas.microsoft.com/office/drawing/2014/main" id="{48927139-F83B-1EDF-1601-2804FDE8A670}"/>
              </a:ext>
            </a:extLst>
          </p:cNvPr>
          <p:cNvSpPr/>
          <p:nvPr/>
        </p:nvSpPr>
        <p:spPr>
          <a:xfrm>
            <a:off x="548640" y="3397408"/>
            <a:ext cx="36576" cy="228600"/>
          </a:xfrm>
          <a:prstGeom prst="rect">
            <a:avLst/>
          </a:prstGeom>
          <a:solidFill>
            <a:srgbClr val="8A2332"/>
          </a:solidFill>
          <a:ln/>
        </p:spPr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BEBEA440-9C14-2EFC-7423-987C1975AD94}"/>
              </a:ext>
            </a:extLst>
          </p:cNvPr>
          <p:cNvSpPr/>
          <p:nvPr/>
        </p:nvSpPr>
        <p:spPr>
          <a:xfrm>
            <a:off x="777240" y="33516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50000"/>
              </a:lnSpc>
              <a:spcAft>
                <a:spcPts val="400"/>
              </a:spcAft>
              <a:buSzPct val="100000"/>
            </a:pPr>
            <a:r>
              <a:rPr lang="en-US" sz="12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Organizational Hierarchy</a:t>
            </a:r>
            <a:endParaRPr lang="en-US" sz="1200" dirty="0"/>
          </a:p>
        </p:txBody>
      </p:sp>
      <p:sp>
        <p:nvSpPr>
          <p:cNvPr id="28" name="Shape 24">
            <a:extLst>
              <a:ext uri="{FF2B5EF4-FFF2-40B4-BE49-F238E27FC236}">
                <a16:creationId xmlns:a16="http://schemas.microsoft.com/office/drawing/2014/main" id="{7BF28986-B32F-3281-424C-5E6BC25B0665}"/>
              </a:ext>
            </a:extLst>
          </p:cNvPr>
          <p:cNvSpPr/>
          <p:nvPr/>
        </p:nvSpPr>
        <p:spPr>
          <a:xfrm>
            <a:off x="548640" y="3781456"/>
            <a:ext cx="36576" cy="228600"/>
          </a:xfrm>
          <a:prstGeom prst="rect">
            <a:avLst/>
          </a:prstGeom>
          <a:solidFill>
            <a:srgbClr val="8A2332"/>
          </a:solidFill>
          <a:ln/>
        </p:spPr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7F5AE9C9-8A0A-6190-C9F0-EF78E77BEC9C}"/>
              </a:ext>
            </a:extLst>
          </p:cNvPr>
          <p:cNvSpPr/>
          <p:nvPr/>
        </p:nvSpPr>
        <p:spPr>
          <a:xfrm>
            <a:off x="777240" y="373573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50000"/>
              </a:lnSpc>
              <a:spcAft>
                <a:spcPts val="400"/>
              </a:spcAft>
              <a:buSzPct val="100000"/>
            </a:pPr>
            <a:r>
              <a:rPr lang="en-US" sz="12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Promotion race engine</a:t>
            </a:r>
            <a:endParaRPr lang="en-US" sz="1200" dirty="0"/>
          </a:p>
        </p:txBody>
      </p:sp>
      <p:sp>
        <p:nvSpPr>
          <p:cNvPr id="32" name="Shape 28">
            <a:extLst>
              <a:ext uri="{FF2B5EF4-FFF2-40B4-BE49-F238E27FC236}">
                <a16:creationId xmlns:a16="http://schemas.microsoft.com/office/drawing/2014/main" id="{5BB94F85-5938-0A54-9F84-FC24F7A91C75}"/>
              </a:ext>
            </a:extLst>
          </p:cNvPr>
          <p:cNvSpPr/>
          <p:nvPr/>
        </p:nvSpPr>
        <p:spPr>
          <a:xfrm>
            <a:off x="4754880" y="3013360"/>
            <a:ext cx="36576" cy="228600"/>
          </a:xfrm>
          <a:prstGeom prst="rect">
            <a:avLst/>
          </a:prstGeom>
          <a:solidFill>
            <a:srgbClr val="8A2332"/>
          </a:solidFill>
          <a:ln/>
        </p:spPr>
      </p:sp>
      <p:sp>
        <p:nvSpPr>
          <p:cNvPr id="33" name="Text 29">
            <a:extLst>
              <a:ext uri="{FF2B5EF4-FFF2-40B4-BE49-F238E27FC236}">
                <a16:creationId xmlns:a16="http://schemas.microsoft.com/office/drawing/2014/main" id="{BE5B5FAC-7B7A-8D02-A745-F6C23854224E}"/>
              </a:ext>
            </a:extLst>
          </p:cNvPr>
          <p:cNvSpPr/>
          <p:nvPr/>
        </p:nvSpPr>
        <p:spPr>
          <a:xfrm>
            <a:off x="4983480" y="2967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50000"/>
              </a:lnSpc>
              <a:spcAft>
                <a:spcPts val="400"/>
              </a:spcAft>
              <a:buSzPct val="100000"/>
            </a:pPr>
            <a:r>
              <a:rPr lang="en-US" sz="1200" dirty="0">
                <a:solidFill>
                  <a:srgbClr val="1F2937"/>
                </a:solidFill>
                <a:latin typeface="Montserrat" pitchFamily="34" charset="0"/>
              </a:rPr>
              <a:t>Audit logging </a:t>
            </a:r>
          </a:p>
        </p:txBody>
      </p:sp>
      <p:sp>
        <p:nvSpPr>
          <p:cNvPr id="34" name="Shape 30">
            <a:extLst>
              <a:ext uri="{FF2B5EF4-FFF2-40B4-BE49-F238E27FC236}">
                <a16:creationId xmlns:a16="http://schemas.microsoft.com/office/drawing/2014/main" id="{745AC9DD-3BD6-3C48-9F64-FAACE2C8CE6B}"/>
              </a:ext>
            </a:extLst>
          </p:cNvPr>
          <p:cNvSpPr/>
          <p:nvPr/>
        </p:nvSpPr>
        <p:spPr>
          <a:xfrm>
            <a:off x="4754880" y="3397408"/>
            <a:ext cx="36576" cy="228600"/>
          </a:xfrm>
          <a:prstGeom prst="rect">
            <a:avLst/>
          </a:prstGeom>
          <a:solidFill>
            <a:srgbClr val="8A2332"/>
          </a:solidFill>
          <a:ln/>
        </p:spPr>
      </p:sp>
      <p:sp>
        <p:nvSpPr>
          <p:cNvPr id="35" name="Text 31">
            <a:extLst>
              <a:ext uri="{FF2B5EF4-FFF2-40B4-BE49-F238E27FC236}">
                <a16:creationId xmlns:a16="http://schemas.microsoft.com/office/drawing/2014/main" id="{96783858-6018-782D-6AE2-4B066F095D3A}"/>
              </a:ext>
            </a:extLst>
          </p:cNvPr>
          <p:cNvSpPr/>
          <p:nvPr/>
        </p:nvSpPr>
        <p:spPr>
          <a:xfrm>
            <a:off x="4983480" y="33516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50000"/>
              </a:lnSpc>
              <a:spcAft>
                <a:spcPts val="400"/>
              </a:spcAft>
              <a:buSzPct val="100000"/>
            </a:pPr>
            <a:r>
              <a:rPr lang="en-US" sz="1200" dirty="0">
                <a:solidFill>
                  <a:srgbClr val="1F2937"/>
                </a:solidFill>
                <a:latin typeface="Montserrat" pitchFamily="34" charset="0"/>
              </a:rPr>
              <a:t>Import/export tools </a:t>
            </a:r>
          </a:p>
        </p:txBody>
      </p:sp>
      <p:sp>
        <p:nvSpPr>
          <p:cNvPr id="36" name="Shape 32">
            <a:extLst>
              <a:ext uri="{FF2B5EF4-FFF2-40B4-BE49-F238E27FC236}">
                <a16:creationId xmlns:a16="http://schemas.microsoft.com/office/drawing/2014/main" id="{525C03B8-6F6C-3CB9-8E77-30DDC20DB2A5}"/>
              </a:ext>
            </a:extLst>
          </p:cNvPr>
          <p:cNvSpPr/>
          <p:nvPr/>
        </p:nvSpPr>
        <p:spPr>
          <a:xfrm>
            <a:off x="4754880" y="3781456"/>
            <a:ext cx="36576" cy="228600"/>
          </a:xfrm>
          <a:prstGeom prst="rect">
            <a:avLst/>
          </a:prstGeom>
          <a:solidFill>
            <a:srgbClr val="8A2332"/>
          </a:solidFill>
          <a:ln/>
        </p:spPr>
      </p:sp>
      <p:sp>
        <p:nvSpPr>
          <p:cNvPr id="37" name="Text 33">
            <a:extLst>
              <a:ext uri="{FF2B5EF4-FFF2-40B4-BE49-F238E27FC236}">
                <a16:creationId xmlns:a16="http://schemas.microsoft.com/office/drawing/2014/main" id="{C3F1469E-969D-14E7-D40C-E8BA2AF07891}"/>
              </a:ext>
            </a:extLst>
          </p:cNvPr>
          <p:cNvSpPr/>
          <p:nvPr/>
        </p:nvSpPr>
        <p:spPr>
          <a:xfrm>
            <a:off x="4983480" y="373573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Multi-language support (EN/HU/AR)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9438456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8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kern="0" spc="4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081486"/>
            <a:ext cx="2743200" cy="9144"/>
          </a:xfrm>
          <a:prstGeom prst="rect">
            <a:avLst/>
          </a:prstGeom>
          <a:solidFill>
            <a:srgbClr val="D4A0A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1338942"/>
            <a:ext cx="7315200" cy="297833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85750" indent="-285750">
              <a:lnSpc>
                <a:spcPct val="15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</a:rPr>
              <a:t>Configurable promotion policies via UI editor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</a:rPr>
              <a:t>Record history and enhanced audit logging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</a:rPr>
              <a:t>PDF export and yearly reporting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</a:rPr>
              <a:t>Improved input validation and error UX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</a:rPr>
              <a:t>Dark mode + extended multi-language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</a:rPr>
              <a:t>Improved data consistency and error handling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FFFFFF"/>
                </a:solidFill>
                <a:latin typeface="Montserrat" pitchFamily="34" charset="0"/>
              </a:rPr>
              <a:t>Desktop application packaging and deployment</a:t>
            </a:r>
          </a:p>
        </p:txBody>
      </p:sp>
      <p:pic>
        <p:nvPicPr>
          <p:cNvPr id="8" name="Image 0" descr="/home/claude/deck/assets/bm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4572000"/>
            <a:ext cx="1463040" cy="48463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6E2766B-7C9E-B135-879F-64256F74443E}"/>
              </a:ext>
            </a:extLst>
          </p:cNvPr>
          <p:cNvSpPr/>
          <p:nvPr/>
        </p:nvSpPr>
        <p:spPr>
          <a:xfrm>
            <a:off x="0" y="0"/>
            <a:ext cx="6858000" cy="5148072"/>
          </a:xfrm>
          <a:prstGeom prst="rect">
            <a:avLst/>
          </a:prstGeom>
          <a:solidFill>
            <a:srgbClr val="8A2332"/>
          </a:solidFill>
          <a:ln/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159392E-80A1-A938-1C8F-06380EFDDF57}"/>
              </a:ext>
            </a:extLst>
          </p:cNvPr>
          <p:cNvSpPr/>
          <p:nvPr/>
        </p:nvSpPr>
        <p:spPr>
          <a:xfrm>
            <a:off x="731520" y="9144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kern="0" spc="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golian Baiti" panose="03000500000000000000" pitchFamily="66" charset="0"/>
              </a:rPr>
              <a:t>Thank</a:t>
            </a:r>
            <a:endParaRPr lang="en-US" sz="5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D38833C-D8AB-8B88-6CE8-D99CFA6AC591}"/>
              </a:ext>
            </a:extLst>
          </p:cNvPr>
          <p:cNvSpPr/>
          <p:nvPr/>
        </p:nvSpPr>
        <p:spPr>
          <a:xfrm>
            <a:off x="731520" y="164592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kern="0" spc="3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You.</a:t>
            </a:r>
            <a:endParaRPr lang="en-US" sz="52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9BDB692-9246-6C99-4144-120A9CDE9D68}"/>
              </a:ext>
            </a:extLst>
          </p:cNvPr>
          <p:cNvSpPr/>
          <p:nvPr/>
        </p:nvSpPr>
        <p:spPr>
          <a:xfrm>
            <a:off x="731520" y="2560320"/>
            <a:ext cx="1828800" cy="13716"/>
          </a:xfrm>
          <a:prstGeom prst="rect">
            <a:avLst/>
          </a:prstGeom>
          <a:solidFill>
            <a:srgbClr val="D4A0A8"/>
          </a:solidFill>
          <a:ln/>
        </p:spPr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D4D83CC-7BDE-6622-5AE7-2E3B95A752B4}"/>
              </a:ext>
            </a:extLst>
          </p:cNvPr>
          <p:cNvSpPr/>
          <p:nvPr/>
        </p:nvSpPr>
        <p:spPr>
          <a:xfrm>
            <a:off x="731520" y="2834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D4A0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MyHR - Employee Management System</a:t>
            </a:r>
            <a:endParaRPr lang="en-US" sz="13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085C52F-A79F-FEFB-F859-9D50B0B72047}"/>
              </a:ext>
            </a:extLst>
          </p:cNvPr>
          <p:cNvSpPr/>
          <p:nvPr/>
        </p:nvSpPr>
        <p:spPr>
          <a:xfrm>
            <a:off x="731520" y="32004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70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Lab · Spring 2025–2026</a:t>
            </a:r>
            <a:endParaRPr lang="en-US" sz="11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869D650-D973-D6DD-478C-08707DEBEDE1}"/>
              </a:ext>
            </a:extLst>
          </p:cNvPr>
          <p:cNvSpPr/>
          <p:nvPr/>
        </p:nvSpPr>
        <p:spPr>
          <a:xfrm>
            <a:off x="731520" y="38404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Muhammad Ibrahim Shoeb</a:t>
            </a:r>
            <a:endParaRPr lang="en-US" sz="12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7C5CFCE-5444-E94D-E18C-C9B696BB7371}"/>
              </a:ext>
            </a:extLst>
          </p:cNvPr>
          <p:cNvSpPr/>
          <p:nvPr/>
        </p:nvSpPr>
        <p:spPr>
          <a:xfrm>
            <a:off x="731520" y="411480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A0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Supervisor: Dr. Husam Al-</a:t>
            </a:r>
            <a:r>
              <a:rPr lang="en-US" sz="1000" dirty="0" err="1">
                <a:solidFill>
                  <a:srgbClr val="D4A0A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Magsoosi</a:t>
            </a:r>
            <a:endParaRPr lang="en-US" sz="1000" dirty="0"/>
          </a:p>
        </p:txBody>
      </p:sp>
      <p:pic>
        <p:nvPicPr>
          <p:cNvPr id="10" name="Image 0" descr="/home/claude/deck/assets/bme_white.png">
            <a:extLst>
              <a:ext uri="{FF2B5EF4-FFF2-40B4-BE49-F238E27FC236}">
                <a16:creationId xmlns:a16="http://schemas.microsoft.com/office/drawing/2014/main" id="{DF43962F-97E7-64DA-A2F3-CB10B18EB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72000"/>
            <a:ext cx="1280160" cy="429768"/>
          </a:xfrm>
          <a:prstGeom prst="rect">
            <a:avLst/>
          </a:prstGeom>
        </p:spPr>
      </p:pic>
      <p:pic>
        <p:nvPicPr>
          <p:cNvPr id="11" name="Image 1" descr="/home/claude/deck/assets/qr.png">
            <a:extLst>
              <a:ext uri="{FF2B5EF4-FFF2-40B4-BE49-F238E27FC236}">
                <a16:creationId xmlns:a16="http://schemas.microsoft.com/office/drawing/2014/main" id="{7AD0D7C0-E491-B84E-5852-C9ECBCAF7C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097280"/>
            <a:ext cx="1645920" cy="1645920"/>
          </a:xfrm>
          <a:prstGeom prst="rect">
            <a:avLst/>
          </a:prstGeom>
        </p:spPr>
      </p:pic>
      <p:sp>
        <p:nvSpPr>
          <p:cNvPr id="12" name="Text 8">
            <a:extLst>
              <a:ext uri="{FF2B5EF4-FFF2-40B4-BE49-F238E27FC236}">
                <a16:creationId xmlns:a16="http://schemas.microsoft.com/office/drawing/2014/main" id="{F75FD70B-E731-D9D3-D96E-57CA8C55FD5F}"/>
              </a:ext>
            </a:extLst>
          </p:cNvPr>
          <p:cNvSpPr/>
          <p:nvPr/>
        </p:nvSpPr>
        <p:spPr>
          <a:xfrm>
            <a:off x="6995160" y="292608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github.com/</a:t>
            </a:r>
            <a:endParaRPr lang="en-US" sz="100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585284FE-3203-76BC-12B6-0B8A0A8FE5A7}"/>
              </a:ext>
            </a:extLst>
          </p:cNvPr>
          <p:cNvSpPr/>
          <p:nvPr/>
        </p:nvSpPr>
        <p:spPr>
          <a:xfrm>
            <a:off x="6995160" y="312724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ibrahimify/MyHR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4506868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1192</TotalTime>
  <Words>569</Words>
  <Application>Microsoft Office PowerPoint</Application>
  <PresentationFormat>On-screen Show (16:9)</PresentationFormat>
  <Paragraphs>158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Mongolian Baiti</vt:lpstr>
      <vt:lpstr>Montserrat</vt:lpstr>
      <vt:lpstr>Montserrat Light</vt:lpstr>
      <vt:lpstr>Noto sans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MyHR — Employee Management System</dc:title>
  <dc:subject>PptxGenJS Presentation</dc:subject>
  <dc:creator>Muhammad Ibrahim Shoeb</dc:creator>
  <cp:lastModifiedBy>Muhammad Ibrahim Shoeb</cp:lastModifiedBy>
  <cp:revision>19</cp:revision>
  <dcterms:created xsi:type="dcterms:W3CDTF">2026-05-29T06:57:23Z</dcterms:created>
  <dcterms:modified xsi:type="dcterms:W3CDTF">2026-06-03T11:24:56Z</dcterms:modified>
</cp:coreProperties>
</file>